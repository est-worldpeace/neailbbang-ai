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8c390109924e9c" /><Relationship Type="http://schemas.openxmlformats.org/officeDocument/2006/relationships/extended-properties" Target="/docProps/app.xml" Id="R926dde4e4c7f423b" /><Relationship Type="http://schemas.openxmlformats.org/officeDocument/2006/relationships/officeDocument" Target="/ppt/presentation.xml" Id="R208cbbc86d824ff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615c7db096a4fb7"/>
  </p:sldMasterIdLst>
  <p:notesMasterIdLst>
    <p:notesMasterId xmlns:r="http://schemas.openxmlformats.org/officeDocument/2006/relationships" r:id="R6d739a9716a240d7"/>
  </p:notesMasterIdLst>
  <p:sldIdLst>
    <p:sldId xmlns:r="http://schemas.openxmlformats.org/officeDocument/2006/relationships" id="256" r:id="Ra0776de877804558"/>
    <p:sldId xmlns:r="http://schemas.openxmlformats.org/officeDocument/2006/relationships" id="257" r:id="Rc4f46f9332654ce1"/>
    <p:sldId xmlns:r="http://schemas.openxmlformats.org/officeDocument/2006/relationships" id="258" r:id="R916b997ba934445d"/>
    <p:sldId xmlns:r="http://schemas.openxmlformats.org/officeDocument/2006/relationships" id="259" r:id="R5d8415031eb44ca4"/>
    <p:sldId xmlns:r="http://schemas.openxmlformats.org/officeDocument/2006/relationships" id="260" r:id="R0764724d14e542a6"/>
    <p:sldId xmlns:r="http://schemas.openxmlformats.org/officeDocument/2006/relationships" id="261" r:id="R9172a01e6dcd4d6b"/>
    <p:sldId xmlns:r="http://schemas.openxmlformats.org/officeDocument/2006/relationships" id="262" r:id="Rf42838e195e4451a"/>
    <p:sldId xmlns:r="http://schemas.openxmlformats.org/officeDocument/2006/relationships" id="263" r:id="R90766961849e4d1e"/>
    <p:sldId xmlns:r="http://schemas.openxmlformats.org/officeDocument/2006/relationships" id="264" r:id="Rbad955aa3d7c464b"/>
    <p:sldId xmlns:r="http://schemas.openxmlformats.org/officeDocument/2006/relationships" id="265" r:id="Rd46f802135304bb1"/>
    <p:sldId xmlns:r="http://schemas.openxmlformats.org/officeDocument/2006/relationships" id="266" r:id="Rf676bd490df14273"/>
    <p:sldId xmlns:r="http://schemas.openxmlformats.org/officeDocument/2006/relationships" id="267" r:id="R6811f90d9fa2452d"/>
    <p:sldId xmlns:r="http://schemas.openxmlformats.org/officeDocument/2006/relationships" id="268" r:id="Rfab444d8f4224468"/>
    <p:sldId xmlns:r="http://schemas.openxmlformats.org/officeDocument/2006/relationships" id="269" r:id="R92d4556186574916"/>
    <p:sldId xmlns:r="http://schemas.openxmlformats.org/officeDocument/2006/relationships" id="270" r:id="Rd90e44087f144421"/>
    <p:sldId xmlns:r="http://schemas.openxmlformats.org/officeDocument/2006/relationships" id="271" r:id="Rc142333a4e8e4ce8"/>
    <p:sldId xmlns:r="http://schemas.openxmlformats.org/officeDocument/2006/relationships" id="272" r:id="R31bbb69185aa493a"/>
    <p:sldId xmlns:r="http://schemas.openxmlformats.org/officeDocument/2006/relationships" id="273" r:id="R35df407590274cf4"/>
  </p:sldIdLst>
  <p:sldSz cx="12192000" cy="6858000"/>
  <p:notesSz cx="6858000" cy="9144000"/>
  <p:embeddedFontLst>
    <p:embeddedFont>
      <p:font typeface="Inter"/>
      <p:regular xmlns:r="http://schemas.openxmlformats.org/officeDocument/2006/relationships" r:id="Rdd1853a2082f47f8"/>
      <p:bold xmlns:r="http://schemas.openxmlformats.org/officeDocument/2006/relationships" r:id="Rea6d807820034851"/>
    </p:embeddedFont>
    <p:embeddedFont>
      <p:font typeface="Inter Medium"/>
      <p:regular xmlns:r="http://schemas.openxmlformats.org/officeDocument/2006/relationships" r:id="R9e43031e0907423c"/>
    </p:embeddedFont>
    <p:embeddedFont>
      <p:font typeface="Inter SemiBold"/>
      <p:regular xmlns:r="http://schemas.openxmlformats.org/officeDocument/2006/relationships" r:id="Rf3dd803f588f4e44"/>
      <p:bold xmlns:r="http://schemas.openxmlformats.org/officeDocument/2006/relationships" r:id="Rf925c38d64704bc6"/>
    </p:embeddedFont>
    <p:embeddedFont>
      <p:font typeface="OpenAI Sans"/>
      <p:regular xmlns:r="http://schemas.openxmlformats.org/officeDocument/2006/relationships" r:id="Raeeac5c50a9c4cc4"/>
      <p:bold xmlns:r="http://schemas.openxmlformats.org/officeDocument/2006/relationships" r:id="R27edfa8e9b524094"/>
      <p:italic xmlns:r="http://schemas.openxmlformats.org/officeDocument/2006/relationships" r:id="Ra0f80efaeba64664"/>
      <p:boldItalic xmlns:r="http://schemas.openxmlformats.org/officeDocument/2006/relationships" r:id="R4ef4b8dc56b44ec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6349149b1f546da" /><Relationship Type="http://schemas.openxmlformats.org/officeDocument/2006/relationships/slideMaster" Target="/ppt/slideMasters/slideMaster1.xml" Id="R6615c7db096a4fb7" /><Relationship Type="http://schemas.openxmlformats.org/officeDocument/2006/relationships/notesMaster" Target="/ppt/notesMasters/notesMaster1.xml" Id="R6d739a9716a240d7" /><Relationship Type="http://schemas.openxmlformats.org/officeDocument/2006/relationships/presProps" Target="/ppt/presProps.xml" Id="Re43da71105184933" /><Relationship Type="http://schemas.openxmlformats.org/officeDocument/2006/relationships/viewProps" Target="/ppt/viewProps.xml" Id="Rc883cde841224489" /><Relationship Type="http://schemas.openxmlformats.org/officeDocument/2006/relationships/tableStyles" Target="/ppt/tableStyles.xml" Id="R939d14298f3d4d73" /><Relationship Type="http://schemas.openxmlformats.org/officeDocument/2006/relationships/font" Target="/ppt/fonts/font.dat" Id="Rdd1853a2082f47f8" /><Relationship Type="http://schemas.openxmlformats.org/officeDocument/2006/relationships/font" Target="/ppt/fonts/font2.dat" Id="Rea6d807820034851" /><Relationship Type="http://schemas.openxmlformats.org/officeDocument/2006/relationships/font" Target="/ppt/fonts/font3.dat" Id="R9e43031e0907423c" /><Relationship Type="http://schemas.openxmlformats.org/officeDocument/2006/relationships/font" Target="/ppt/fonts/font4.dat" Id="Rf3dd803f588f4e44" /><Relationship Type="http://schemas.openxmlformats.org/officeDocument/2006/relationships/font" Target="/ppt/fonts/font5.dat" Id="Rf925c38d64704bc6" /><Relationship Type="http://schemas.openxmlformats.org/officeDocument/2006/relationships/font" Target="/ppt/fonts/font6.dat" Id="Raeeac5c50a9c4cc4" /><Relationship Type="http://schemas.openxmlformats.org/officeDocument/2006/relationships/font" Target="/ppt/fonts/font7.dat" Id="R27edfa8e9b524094" /><Relationship Type="http://schemas.openxmlformats.org/officeDocument/2006/relationships/font" Target="/ppt/fonts/font8.dat" Id="Ra0f80efaeba64664" /><Relationship Type="http://schemas.openxmlformats.org/officeDocument/2006/relationships/font" Target="/ppt/fonts/font9.dat" Id="R4ef4b8dc56b44ecb" /><Relationship Type="http://schemas.openxmlformats.org/officeDocument/2006/relationships/slide" Target="/ppt/slides/slide1.xml" Id="Ra0776de877804558" /><Relationship Type="http://schemas.openxmlformats.org/officeDocument/2006/relationships/slide" Target="/ppt/slides/slide2.xml" Id="Rc4f46f9332654ce1" /><Relationship Type="http://schemas.openxmlformats.org/officeDocument/2006/relationships/slide" Target="/ppt/slides/slide3.xml" Id="R916b997ba934445d" /><Relationship Type="http://schemas.openxmlformats.org/officeDocument/2006/relationships/slide" Target="/ppt/slides/slide4.xml" Id="R5d8415031eb44ca4" /><Relationship Type="http://schemas.openxmlformats.org/officeDocument/2006/relationships/slide" Target="/ppt/slides/slide5.xml" Id="R0764724d14e542a6" /><Relationship Type="http://schemas.openxmlformats.org/officeDocument/2006/relationships/slide" Target="/ppt/slides/slide6.xml" Id="R9172a01e6dcd4d6b" /><Relationship Type="http://schemas.openxmlformats.org/officeDocument/2006/relationships/slide" Target="/ppt/slides/slide7.xml" Id="Rf42838e195e4451a" /><Relationship Type="http://schemas.openxmlformats.org/officeDocument/2006/relationships/slide" Target="/ppt/slides/slide8.xml" Id="R90766961849e4d1e" /><Relationship Type="http://schemas.openxmlformats.org/officeDocument/2006/relationships/slide" Target="/ppt/slides/slide9.xml" Id="Rbad955aa3d7c464b" /><Relationship Type="http://schemas.openxmlformats.org/officeDocument/2006/relationships/slide" Target="/ppt/slides/slide10.xml" Id="Rd46f802135304bb1" /><Relationship Type="http://schemas.openxmlformats.org/officeDocument/2006/relationships/slide" Target="/ppt/slides/slide11.xml" Id="Rf676bd490df14273" /><Relationship Type="http://schemas.openxmlformats.org/officeDocument/2006/relationships/slide" Target="/ppt/slides/slide12.xml" Id="R6811f90d9fa2452d" /><Relationship Type="http://schemas.openxmlformats.org/officeDocument/2006/relationships/slide" Target="/ppt/slides/slide13.xml" Id="Rfab444d8f4224468" /><Relationship Type="http://schemas.openxmlformats.org/officeDocument/2006/relationships/slide" Target="/ppt/slides/slide14.xml" Id="R92d4556186574916" /><Relationship Type="http://schemas.openxmlformats.org/officeDocument/2006/relationships/slide" Target="/ppt/slides/slide15.xml" Id="Rd90e44087f144421" /><Relationship Type="http://schemas.openxmlformats.org/officeDocument/2006/relationships/slide" Target="/ppt/slides/slide16.xml" Id="Rc142333a4e8e4ce8" /><Relationship Type="http://schemas.openxmlformats.org/officeDocument/2006/relationships/slide" Target="/ppt/slides/slide17.xml" Id="R31bbb69185aa493a" /><Relationship Type="http://schemas.openxmlformats.org/officeDocument/2006/relationships/slide" Target="/ppt/slides/slide18.xml" Id="R35df407590274c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475835a54d43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fc60567cea453d" /><Relationship Type="http://schemas.openxmlformats.org/officeDocument/2006/relationships/notesMaster" Target="/ppt/notesMasters/notesMaster1.xml" Id="R414445dd751848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1c158e70224d93" /><Relationship Type="http://schemas.openxmlformats.org/officeDocument/2006/relationships/notesMaster" Target="/ppt/notesMasters/notesMaster1.xml" Id="R2b098e7c45ff46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6abb40b7cc4abb" /><Relationship Type="http://schemas.openxmlformats.org/officeDocument/2006/relationships/notesMaster" Target="/ppt/notesMasters/notesMaster1.xml" Id="Rca0f9c7b1f6a41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b702c5d0f84d1b" /><Relationship Type="http://schemas.openxmlformats.org/officeDocument/2006/relationships/notesMaster" Target="/ppt/notesMasters/notesMaster1.xml" Id="R14486218c6d640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e64a03c9564130" /><Relationship Type="http://schemas.openxmlformats.org/officeDocument/2006/relationships/notesMaster" Target="/ppt/notesMasters/notesMaster1.xml" Id="Rf6d7cd61096348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bf21cb7ba747e8" /><Relationship Type="http://schemas.openxmlformats.org/officeDocument/2006/relationships/notesMaster" Target="/ppt/notesMasters/notesMaster1.xml" Id="Raad4b446d6e144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60cd3277194669" /><Relationship Type="http://schemas.openxmlformats.org/officeDocument/2006/relationships/notesMaster" Target="/ppt/notesMasters/notesMaster1.xml" Id="R54d02497344649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162c1f53594be4" /><Relationship Type="http://schemas.openxmlformats.org/officeDocument/2006/relationships/notesMaster" Target="/ppt/notesMasters/notesMaster1.xml" Id="Rc75a741ef46f43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ab34d9fa6e49ef" /><Relationship Type="http://schemas.openxmlformats.org/officeDocument/2006/relationships/notesMaster" Target="/ppt/notesMasters/notesMaster1.xml" Id="R4b9e1bc74ad34d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5e600088284574" /><Relationship Type="http://schemas.openxmlformats.org/officeDocument/2006/relationships/notesMaster" Target="/ppt/notesMasters/notesMaster1.xml" Id="Rb826bf865c8d48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b80124208a433c" /><Relationship Type="http://schemas.openxmlformats.org/officeDocument/2006/relationships/notesMaster" Target="/ppt/notesMasters/notesMaster1.xml" Id="Rd9d2fb45667147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66ffd03a0b49dd" /><Relationship Type="http://schemas.openxmlformats.org/officeDocument/2006/relationships/notesMaster" Target="/ppt/notesMasters/notesMaster1.xml" Id="R40b19a3244e147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e321459b3b45d9" /><Relationship Type="http://schemas.openxmlformats.org/officeDocument/2006/relationships/notesMaster" Target="/ppt/notesMasters/notesMaster1.xml" Id="Re50d19a71b3941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1244caf1994048" /><Relationship Type="http://schemas.openxmlformats.org/officeDocument/2006/relationships/notesMaster" Target="/ppt/notesMasters/notesMaster1.xml" Id="R3fa54f4af15c45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bbc1e24a1847fe" /><Relationship Type="http://schemas.openxmlformats.org/officeDocument/2006/relationships/notesMaster" Target="/ppt/notesMasters/notesMaster1.xml" Id="Radb763d3a7f140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bd2e296a044bb2" /><Relationship Type="http://schemas.openxmlformats.org/officeDocument/2006/relationships/notesMaster" Target="/ppt/notesMasters/notesMaster1.xml" Id="R4c97bc0d688040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d382f59a61434a" /><Relationship Type="http://schemas.openxmlformats.org/officeDocument/2006/relationships/notesMaster" Target="/ppt/notesMasters/notesMaster1.xml" Id="R1bc750dbf9cc45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cd3b46b70dc495b" /><Relationship Type="http://schemas.openxmlformats.org/officeDocument/2006/relationships/notesMaster" Target="/ppt/notesMasters/notesMaster1.xml" Id="R72ff7f58e48a4c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내일의 빵 최종 모델의 과거 보고와 신규 순차 보정 결과를 비교한다. 공개 데이터 한 매장 여섯 상품을 재사용한 탐색적 분석이다.</a:t>
            </a:r>
            <a:endParaRPr/>
          </a:p>
          <a:p xmlns:a="http://schemas.openxmlformats.org/drawingml/2006/main">
            <a:r>
              <a:t/>
            </a:r>
            <a:endParaRPr/>
          </a:p>
          <a:p xmlns:a="http://schemas.openxmlformats.org/drawingml/2006/main">
            <a:r>
              <a:t>출처 확인 기준:2026-09-14</a:t>
            </a:r>
            <a:endParaRPr/>
          </a:p>
          <a:p xmlns:a="http://schemas.openxmlformats.org/drawingml/2006/main">
            <a:r>
              <a:t>https://naeil-bbang.vercel.app/research/rolling/analysis.json</a:t>
            </a:r>
            <a:endParaRPr/>
          </a:p>
          <a:p xmlns:a="http://schemas.openxmlformats.org/drawingml/2006/main">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과거970건 수치는 대화에서 보고한 값으로 원예측 자료를 확보하지 못했다. 신규974건은 같은 날짜·상품 키로 비교한다. WAPE는P50, 손실은 올림한P75를 평가한다.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원자료는 독일 빵집의 시간대별 관측 순판매 개수다. 결측을0으로 대체하지 않았다. 신규 평가기간은2023년7월1일부터12월11일까지 세 구간이다.</a:t>
            </a:r>
          </a:p>
          <a:p xmlns:a="http://schemas.openxmlformats.org/drawingml/2006/main">
            <a:r>
              <a:t>https://github.com/lleisner/bakery_sales_forecasting/tree/d4c8fb84140964a122bbbd851e712b1f11ef3a69/data/raw_sources/sales</a:t>
            </a:r>
          </a:p>
          <a:p xmlns:a="http://schemas.openxmlformats.org/drawingml/2006/main">
            <a:r>
              <a:t/>
            </a:r>
          </a:p>
          <a:p xmlns:a="http://schemas.openxmlformats.org/drawingml/2006/main">
            <a:r>
              <a:t>출처 확인 기준:2026-09-14</a:t>
            </a:r>
          </a:p>
          <a:p xmlns:a="http://schemas.openxmlformats.org/drawingml/2006/main">
            <a:r>
              <a:t>https://naeil-bbang.vercel.app/research/rolling/analysis.json</a:t>
            </a:r>
          </a:p>
          <a:p xmlns:a="http://schemas.openxmlformats.org/drawingml/2006/main">
            <a:r>
              <a:t>https://naeil-bbang.vercel.app/research/rolling/methodology.md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바깥 내부앙상블 비중은0.7324572088988475로 고정한다. 내부 다섯 예측기의 비중은 과거56일을 사용해 매주 갱신하고 상품별 잔차는 매일 갱신한다. 바깥ET가지의 보정은 시험 전56일 자료로 고정한다.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손실은 초과수량+3×부족수량이며3:1은 비용 가정이다. 재고0, 배치1, 생산상한없음 조건의 모의 수량 비교다. 실폐기·품절 자료가 없어 현실의 폐기절감액이나 놓친 수요로 해석하지 않는다.</a:t>
            </a:r>
          </a:p>
          <a:p xmlns:a="http://schemas.openxmlformats.org/drawingml/2006/main">
            <a:r>
              <a:t/>
            </a:r>
          </a:p>
          <a:p xmlns:a="http://schemas.openxmlformats.org/drawingml/2006/main">
            <a:r>
              <a:t>출처 확인 기준:2026-09-14</a:t>
            </a:r>
          </a:p>
          <a:p xmlns:a="http://schemas.openxmlformats.org/drawingml/2006/main">
            <a:r>
              <a:t>https://naeil-bbang.vercel.app/research/rolling/analysis.json</a:t>
            </a:r>
          </a:p>
          <a:p xmlns:a="http://schemas.openxmlformats.org/drawingml/2006/main">
            <a:r>
              <a:t>https://naeil-bbang.vercel.app/research/rolling/methodology.md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과거970건 비교는 대화에서 보고한 값이다. 원예측과 원모델 체크포인트가 없어 새 실험에서 검증한 숫자로 해석하지 않는다. 같은 자료를 반복 탐색했으므로 독립 미사용 시험의 성능으로 볼 수 없다.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과거 보고값의 산술 분해다. 고정50:50대비 초과532증가와 부족218감소에3:1비용을 적용하면 순손실이122감소한다. 대화의 보고 구간은 상대차이95%구간이0을 포함했다.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순차보정은 월요일 이전 결과로 주간비중을 정하고 당일 이전 결과로 당일 잔차를 갱신한다. 34개 후보도 최근56일 오차를 매일 반영한다. 날짜범위와 갱신빈도를 맞췄지만 최종모델은FFT유사도 가중 보정, 후보는 일반 잔차분위수 보정이므로 알고리즘은 다르다. 기본모델을 재학습하지 않는다.</a:t>
            </a:r>
          </a:p>
          <a:p xmlns:a="http://schemas.openxmlformats.org/drawingml/2006/main">
            <a:r>
              <a:t/>
            </a:r>
          </a:p>
          <a:p xmlns:a="http://schemas.openxmlformats.org/drawingml/2006/main">
            <a:r>
              <a:t>출처 확인 기준:2026-09-14</a:t>
            </a:r>
          </a:p>
          <a:p xmlns:a="http://schemas.openxmlformats.org/drawingml/2006/main">
            <a:r>
              <a:t>https://naeil-bbang.vercel.app/research/rolling/analysis.json</a:t>
            </a:r>
          </a:p>
          <a:p xmlns:a="http://schemas.openxmlformats.org/drawingml/2006/main">
            <a:r>
              <a:t>https://naeil-bbang.vercel.app/research/rolling/methodology.md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매일 보정 후보34개와 최종모델1개를 같은974개 관측에서 비교한다. 손실과WAPE 최저는 이 비교에 한정한다. 차상위 대비95%구간은0을 포함한다. 34설정×3기간=102실행은102개의 독립 모델을 뜻하지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이전 장과 동일한35개 모델의 손실 순위를 이어서 제시한다. 같은 관측키와 분모를 사용한다. 각 모델의 구성은 방법 문서를 참조한다.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이전 장과 동일한35개 모델의 손실 순위를 이어서 제시한다. 같은 관측키와 분모를 사용한다. 각 모델의 구성은 방법 문서를 참조한다.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2×2실험은 첫 주의 초기비중과 시험 전56일 잔차 풀을 맞췄다. 잔차만 매일 갱신한 손실10284에 주간 비중 갱신을 더한 최종손실은10280이다. 추가효과의95%구간은0을 포함한다. 기술적인 동일자료 대비이며 모집단 인과기여율을 주장하지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평가기간별 표본 수와 판매 규모가 다르므로 각 기간 안에서 모델을 비교한다. 11~12월에는 작은 히스토그램 후보의 손실이 최종모델보다 낮다.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상품별 최종모델과 매일보정ET의 손실을 비교한다. 최종모델은6종 중5종에서 낮고 상품11에서26높다. 다른매장과 신규상품의 성능은 아직 검증하지 않았다.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선택규칙은 가장 작은 상품ID11, 첫 평가일로부터21달력일이다. 사례 성적을 보고 고른 구간이 아니다. 권고량은 정수 올림한P75다. 전체 성능 판단에는 모든974개 관측을 사용한다.</a:t>
            </a:r>
          </a:p>
          <a:p xmlns:a="http://schemas.openxmlformats.org/drawingml/2006/main">
            <a:r>
              <a:t>https://naeil-bbang.vercel.app/research/rolling/predictions.csv</a:t>
            </a:r>
          </a:p>
          <a:p xmlns:a="http://schemas.openxmlformats.org/drawingml/2006/main">
            <a:r>
              <a:t/>
            </a:r>
          </a:p>
          <a:p xmlns:a="http://schemas.openxmlformats.org/drawingml/2006/main">
            <a:r>
              <a:t>출처 확인 기준:2026-09-14</a:t>
            </a:r>
          </a:p>
          <a:p xmlns:a="http://schemas.openxmlformats.org/drawingml/2006/main">
            <a:r>
              <a:t>https://naeil-bbang.vercel.app/research/rolling/analysis.json</a:t>
            </a:r>
          </a:p>
          <a:p xmlns:a="http://schemas.openxmlformats.org/drawingml/2006/main">
            <a:r>
              <a:t>https://naeil-bbang.vercel.app/research/rolling/methodology.md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기간별로7일과14일 원형 달력 블록을1000회 쌍으로 재표집했다. 같은 날짜의 상품은 함께 유지한다. 백분위95%구간이다. 다중비교와 반복자료 탐색을 보정한 확증적 추론이 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검증에서는 새로운 매장·기간을 먼저 지정하고 모델·비용·평가규칙을 고정한다. 품절시간, 재고, 생산수량, 실제폐기량, 상품별원가와마진을 수집해야 운영효과를 평가할 수 있다.</a:t>
            </a:r>
          </a:p>
          <a:p xmlns:a="http://schemas.openxmlformats.org/drawingml/2006/main">
            <a:r>
              <a:t/>
            </a:r>
          </a:p>
          <a:p xmlns:a="http://schemas.openxmlformats.org/drawingml/2006/main">
            <a:r>
              <a:t>출처 확인 기준:2026-09-14</a:t>
            </a:r>
          </a:p>
          <a:p xmlns:a="http://schemas.openxmlformats.org/drawingml/2006/main">
            <a:r>
              <a:t>https://naeil-bbang.vercel.app/research/rolling/analysis.json</a:t>
            </a:r>
          </a:p>
          <a:p xmlns:a="http://schemas.openxmlformats.org/drawingml/2006/main">
            <a:r>
              <a:t>https://naeil-bbang.vercel.app/research/rolling/methodology.md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원자료: https://github.com/lleisner/bakery_sales_forecasting/tree/d4c8fb84140964a122bbbd851e712b1f11ef3a69/data/raw_sources/sales</a:t>
            </a:r>
            <a:endParaRPr/>
          </a:p>
          <a:p xmlns:a="http://schemas.openxmlformats.org/drawingml/2006/main">
            <a:pPr marL="0" lvl="0" indent="0" algn="l">
              <a:spcBef>
                <a:spcPts val="0"/>
              </a:spcBef>
              <a:spcAft>
                <a:spcPts val="0"/>
              </a:spcAft>
              <a:buNone/>
            </a:pPr>
            <a:r>
              <a:t>수량 단위 근거: https://github.com/lleisner/bakery_sales_forecasting/blob/d4c8fb84140964a122bbbd851e712b1f11ef3a69/data_fetcher/sub_fetchers/sales_fetcher.py#L28</a:t>
            </a:r>
            <a:endParaRPr/>
          </a:p>
          <a:p xmlns:a="http://schemas.openxmlformats.org/drawingml/2006/main">
            <a:pPr marL="0" lvl="0" indent="0" algn="l">
              <a:spcBef>
                <a:spcPts val="0"/>
              </a:spcBef>
              <a:spcAft>
                <a:spcPts val="0"/>
              </a:spcAft>
              <a:buNone/>
            </a:pPr>
            <a:r>
              <a:t>분위수숲: https://jmlr.org/papers/v7/meinshausen06a.html</a:t>
            </a:r>
            <a:endParaRPr/>
          </a:p>
          <a:p xmlns:a="http://schemas.openxmlformats.org/drawingml/2006/main">
            <a:pPr marL="0" lvl="0" indent="0" algn="l">
              <a:spcBef>
                <a:spcPts val="0"/>
              </a:spcBef>
              <a:spcAft>
                <a:spcPts val="0"/>
              </a:spcAft>
              <a:buNone/>
            </a:pPr>
            <a:r>
              <a:t>과거970건 수치는 과거 대화에서 보고한 값이며 원예측자료를 확보하지 못했다.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기준:2026-09-14</a:t>
            </a:r>
            <a:endParaRPr/>
          </a:p>
          <a:p xmlns:a="http://schemas.openxmlformats.org/drawingml/2006/main">
            <a:pPr marL="0" lvl="0" indent="0" algn="l">
              <a:spcBef>
                <a:spcPts val="0"/>
              </a:spcBef>
              <a:spcAft>
                <a:spcPts val="0"/>
              </a:spcAft>
              <a:buNone/>
            </a:pPr>
            <a:r>
              <a:t>https://naeil-bbang.vercel.app/research/rolling/analysis.json</a:t>
            </a:r>
            <a:endParaRPr/>
          </a:p>
          <a:p xmlns:a="http://schemas.openxmlformats.org/drawingml/2006/main">
            <a:pPr marL="0" lvl="0" indent="0" algn="l">
              <a:spcBef>
                <a:spcPts val="0"/>
              </a:spcBef>
              <a:spcAft>
                <a:spcPts val="0"/>
              </a:spcAft>
              <a:buNone/>
            </a:pPr>
            <a:r>
              <a:t>https://naeil-bbang.vercel.app/research/rolling/methodology.md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b73daee49e47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bfcb9d76f64f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be56f9113543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e761db713748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bd6ed607214f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9d35b23a2241b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cf58c0cffa74b7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9324965cda40d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6eaefcd07234c65" /><Relationship Type="http://schemas.openxmlformats.org/officeDocument/2006/relationships/image" Target="/ppt/media/image.png" Id="R5ef95c3e5433499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c489b3fd3134258" /><Relationship Type="http://schemas.openxmlformats.org/officeDocument/2006/relationships/image" Target="/ppt/media/image2.png" Id="Rbce656dfbdee499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5ef95c3e54334992">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bce656dfbdee4996">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57b76733694a60" /><Relationship Type="http://schemas.openxmlformats.org/officeDocument/2006/relationships/slideLayout" Target="/ppt/slideLayouts/slideLayout1.xml" Id="R67e02380341f4ddc" /><Relationship Type="http://schemas.openxmlformats.org/officeDocument/2006/relationships/slideLayout" Target="/ppt/slideLayouts/slideLayout2.xml" Id="Rae11cb47c40643e9" /><Relationship Type="http://schemas.openxmlformats.org/officeDocument/2006/relationships/slideLayout" Target="/ppt/slideLayouts/slideLayout3.xml" Id="Re8ad1e770eb74bcf" /><Relationship Type="http://schemas.openxmlformats.org/officeDocument/2006/relationships/slideLayout" Target="/ppt/slideLayouts/slideLayout4.xml" Id="R66b6221bd8644043" /><Relationship Type="http://schemas.openxmlformats.org/officeDocument/2006/relationships/slideLayout" Target="/ppt/slideLayouts/slideLayout5.xml" Id="R838ff438874e440b" /><Relationship Type="http://schemas.openxmlformats.org/officeDocument/2006/relationships/slideLayout" Target="/ppt/slideLayouts/slideLayout6.xml" Id="R96225bd3a6c54087" /><Relationship Type="http://schemas.openxmlformats.org/officeDocument/2006/relationships/slideLayout" Target="/ppt/slideLayouts/slideLayout7.xml" Id="Rc5461c9d25de4ca8" /><Relationship Type="http://schemas.openxmlformats.org/officeDocument/2006/relationships/slideLayout" Target="/ppt/slideLayouts/slideLayout8.xml" Id="Rdfe597f5ae2f4a07" /><Relationship Type="http://schemas.openxmlformats.org/officeDocument/2006/relationships/slideLayout" Target="/ppt/slideLayouts/slideLayout9.xml" Id="R8071029274c84269" /><Relationship Type="http://schemas.openxmlformats.org/officeDocument/2006/relationships/slideLayout" Target="/ppt/slideLayouts/slideLayout10.xml" Id="R5a4c54befd444d8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e02380341f4ddc"/>
    <p:sldLayoutId xmlns:r="http://schemas.openxmlformats.org/officeDocument/2006/relationships" id="2147483650" r:id="Rae11cb47c40643e9"/>
    <p:sldLayoutId xmlns:r="http://schemas.openxmlformats.org/officeDocument/2006/relationships" id="2147483651" r:id="Re8ad1e770eb74bcf"/>
    <p:sldLayoutId xmlns:r="http://schemas.openxmlformats.org/officeDocument/2006/relationships" id="2147483652" r:id="R66b6221bd8644043"/>
    <p:sldLayoutId xmlns:r="http://schemas.openxmlformats.org/officeDocument/2006/relationships" id="2147483653" r:id="R838ff438874e440b"/>
    <p:sldLayoutId xmlns:r="http://schemas.openxmlformats.org/officeDocument/2006/relationships" id="2147483654" r:id="R96225bd3a6c54087"/>
    <p:sldLayoutId xmlns:r="http://schemas.openxmlformats.org/officeDocument/2006/relationships" id="2147483655" r:id="Rc5461c9d25de4ca8"/>
    <p:sldLayoutId xmlns:r="http://schemas.openxmlformats.org/officeDocument/2006/relationships" id="2147483656" r:id="Rdfe597f5ae2f4a07"/>
    <p:sldLayoutId xmlns:r="http://schemas.openxmlformats.org/officeDocument/2006/relationships" id="2147483657" r:id="R8071029274c84269"/>
    <p:sldLayoutId xmlns:r="http://schemas.openxmlformats.org/officeDocument/2006/relationships" id="2147483658" r:id="R5a4c54befd444d80"/>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51a85891d24264" /><Relationship Type="http://schemas.openxmlformats.org/officeDocument/2006/relationships/image" Target="/ppt/media/image3.png" Id="R6d59e89501214427" /><Relationship Type="http://schemas.openxmlformats.org/officeDocument/2006/relationships/notesSlide" Target="/ppt/notesSlides/notesSlide1.xml" Id="Rd492a3d330564e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6db6a26ce74e03" /><Relationship Type="http://schemas.openxmlformats.org/officeDocument/2006/relationships/notesSlide" Target="/ppt/notesSlides/notesSlide2.xml" Id="Rd3cc9430492a47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6664809a2ff04ac4" /><Relationship Type="http://schemas.openxmlformats.org/officeDocument/2006/relationships/notesSlide" Target="/ppt/notesSlides/notesSlide3.xml" Id="Rc85a3e1c639f4b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560c534df3420f" /><Relationship Type="http://schemas.openxmlformats.org/officeDocument/2006/relationships/notesSlide" Target="/ppt/notesSlides/notesSlide4.xml" Id="Reff24834b87143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6206cef2aa2b4be6" /><Relationship Type="http://schemas.openxmlformats.org/officeDocument/2006/relationships/notesSlide" Target="/ppt/notesSlides/notesSlide5.xml" Id="Rfc6fb35f64a54c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7bd5965f8d4cea" /><Relationship Type="http://schemas.openxmlformats.org/officeDocument/2006/relationships/notesSlide" Target="/ppt/notesSlides/notesSlide6.xml" Id="Re0e83c0aad6a45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e76753a8afd46d4" /><Relationship Type="http://schemas.openxmlformats.org/officeDocument/2006/relationships/chart" Target="/ppt/slides/charts/chart1.xml" Id="R786528ea19d143fa" /><Relationship Type="http://schemas.openxmlformats.org/officeDocument/2006/relationships/notesSlide" Target="/ppt/notesSlides/notesSlide7.xml" Id="Rfd730f67b04941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779cc33f779049a8" /><Relationship Type="http://schemas.openxmlformats.org/officeDocument/2006/relationships/notesSlide" Target="/ppt/notesSlides/notesSlide8.xml" Id="R86ee3415c08041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27415c0d6b14a28" /><Relationship Type="http://schemas.openxmlformats.org/officeDocument/2006/relationships/notesSlide" Target="/ppt/notesSlides/notesSlide9.xml" Id="R642e3e9efec342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3c473c63124875" /><Relationship Type="http://schemas.openxmlformats.org/officeDocument/2006/relationships/notesSlide" Target="/ppt/notesSlides/notesSlide10.xml" Id="Rf75729cb5da94a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fc3961133194880" /><Relationship Type="http://schemas.openxmlformats.org/officeDocument/2006/relationships/notesSlide" Target="/ppt/notesSlides/notesSlide11.xml" Id="Rae59499766b547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48bed7bc9147e7" /><Relationship Type="http://schemas.openxmlformats.org/officeDocument/2006/relationships/notesSlide" Target="/ppt/notesSlides/notesSlide12.xml" Id="Rcdce8e0b65a540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c4ad37b65df451a" /><Relationship Type="http://schemas.openxmlformats.org/officeDocument/2006/relationships/chart" Target="/ppt/slides/charts/chart2.xml" Id="R64d153c47c2b4cab" /><Relationship Type="http://schemas.openxmlformats.org/officeDocument/2006/relationships/notesSlide" Target="/ppt/notesSlides/notesSlide13.xml" Id="R5b3f76b185bb43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af19bc604fd4625" /><Relationship Type="http://schemas.openxmlformats.org/officeDocument/2006/relationships/chart" Target="/ppt/slides/charts/chart3.xml" Id="R60a1ba94b59c431a" /><Relationship Type="http://schemas.openxmlformats.org/officeDocument/2006/relationships/notesSlide" Target="/ppt/notesSlides/notesSlide14.xml" Id="R619bfcc3f6e842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c8904cf34b24711" /><Relationship Type="http://schemas.openxmlformats.org/officeDocument/2006/relationships/chart" Target="/ppt/slides/charts/chart4.xml" Id="R26039317e0584a41" /><Relationship Type="http://schemas.openxmlformats.org/officeDocument/2006/relationships/notesSlide" Target="/ppt/notesSlides/notesSlide15.xml" Id="R267cd357134848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4f449175eb743f1" /><Relationship Type="http://schemas.openxmlformats.org/officeDocument/2006/relationships/notesSlide" Target="/ppt/notesSlides/notesSlide16.xml" Id="R13d5150b1fb84b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210982454b4142d7" /><Relationship Type="http://schemas.openxmlformats.org/officeDocument/2006/relationships/notesSlide" Target="/ppt/notesSlides/notesSlide17.xml" Id="R09abb97ed49340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b36a60adfc40af" /><Relationship Type="http://schemas.openxmlformats.org/officeDocument/2006/relationships/hyperlink" Target="https://github.com/lleisner/bakery_sales_forecasting/tree/d4c8fb84140964a122bbbd851e712b1f11ef3a69/data/raw_sources/sales" TargetMode="External" Id="R7ecfa34921db4506" /><Relationship Type="http://schemas.openxmlformats.org/officeDocument/2006/relationships/hyperlink" Target="https://naeil-bbang.vercel.app/research/rolling/analysis.json" TargetMode="External" Id="Ra0cc0b8156104e81" /><Relationship Type="http://schemas.openxmlformats.org/officeDocument/2006/relationships/hyperlink" Target="https://jmlr.org/papers/v7/meinshausen06a.html" TargetMode="External" Id="Rd2f6064a20b14540" /><Relationship Type="http://schemas.openxmlformats.org/officeDocument/2006/relationships/notesSlide" Target="/ppt/notesSlides/notesSlide18.xml" Id="R8c960489b23f401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50:50 대비 차이</c:v>
          </c:tx>
          <c:spPr>
            <a:solidFill xmlns:a="http://schemas.openxmlformats.org/drawingml/2006/main">
              <a:srgbClr val="5EC4FF"/>
            </a:solidFill>
          </c:spPr>
          <c:invertIfNegative val="0"/>
          <c:dPt>
            <c:idx val="0"/>
            <c:invertIfNegative val="0"/>
            <c:spPr>
              <a:solidFill xmlns:a="http://schemas.openxmlformats.org/drawingml/2006/main">
                <a:srgbClr val="5EC4FF"/>
              </a:solidFill>
            </c:spPr>
          </c:dPt>
          <c:dPt>
            <c:idx val="1"/>
            <c:invertIfNegative val="0"/>
            <c:spPr>
              <a:solidFill xmlns:a="http://schemas.openxmlformats.org/drawingml/2006/main">
                <a:srgbClr val="2D617A"/>
              </a:solidFill>
            </c:spPr>
          </c:dPt>
          <c:dPt>
            <c:idx val="2"/>
            <c:invertIfNegative val="0"/>
            <c:spPr>
              <a:solidFill xmlns:a="http://schemas.openxmlformats.org/drawingml/2006/main">
                <a:srgbClr val="0077B8"/>
              </a:solidFill>
            </c:spPr>
          </c:dPt>
          <c:cat>
            <c:strRef>
              <c:f>'Chart Data'!$A$2:$A$4</c:f>
              <c:strCache>
                <c:ptCount val="3"/>
                <c:pt idx="0">
                  <c:v>초과 증가</c:v>
                </c:pt>
                <c:pt idx="1">
                  <c:v>부족×3 감소</c:v>
                </c:pt>
                <c:pt idx="2">
                  <c:v>순손실 차</c:v>
                </c:pt>
              </c:strCache>
            </c:strRef>
          </c:cat>
          <c:val>
            <c:numRef>
              <c:f>'Chart Data'!$B$2:$B$4</c:f>
              <c:numCache>
                <c:formatCode>#,##0</c:formatCode>
                <c:ptCount val="3"/>
                <c:pt idx="0">
                  <c:v>532</c:v>
                </c:pt>
                <c:pt idx="1">
                  <c:v>-654</c:v>
                </c:pt>
                <c:pt idx="2">
                  <c:v>-122</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000000"/>
                  </a:solidFill>
                  <a:latin typeface="Helvetica Neue"/>
                  <a:ea typeface="Malgun Gothic"/>
                  <a:cs typeface="Malgun Gothic"/>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000000"/>
                </a:solidFill>
                <a:latin typeface="Helvetica Neue"/>
                <a:ea typeface="Malgun Gothic"/>
                <a:cs typeface="Malgun Gothic"/>
              </a:defRPr>
            </a:pPr>
          </a:p>
        </c:txPr>
        <c:crossAx val="48672768"/>
      </c:catAx>
      <c:valAx>
        <c:axId val="48672768"/>
        <c:scaling>
          <c:orientation val="minMax"/>
          <c:max val="800"/>
          <c:min val="-80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최종</c:v>
          </c:tx>
          <c:spPr>
            <a:solidFill xmlns:a="http://schemas.openxmlformats.org/drawingml/2006/main">
              <a:srgbClr val="0077B8"/>
            </a:solidFill>
          </c:spPr>
          <c:cat>
            <c:strRef>
              <c:f>'Chart Data'!$A$2:$A$4</c:f>
              <c:strCache>
                <c:ptCount val="3"/>
                <c:pt idx="0">
                  <c:v>7–8월</c:v>
                </c:pt>
                <c:pt idx="1">
                  <c:v>9–10월</c:v>
                </c:pt>
                <c:pt idx="2">
                  <c:v>11–12월</c:v>
                </c:pt>
              </c:strCache>
            </c:strRef>
          </c:cat>
          <c:val>
            <c:numRef>
              <c:f>'Chart Data'!$B$2:$B$4</c:f>
              <c:numCache>
                <c:formatCode>#,##0</c:formatCode>
                <c:ptCount val="3"/>
                <c:pt idx="0">
                  <c:v>5189</c:v>
                </c:pt>
                <c:pt idx="1">
                  <c:v>3965</c:v>
                </c:pt>
                <c:pt idx="2">
                  <c:v>1126</c:v>
                </c:pt>
              </c:numCache>
            </c:numRef>
          </c:val>
        </c:ser>
        <c:ser>
          <c:idx val="1"/>
          <c:order val="1"/>
          <c:tx>
            <c:v>ET</c:v>
          </c:tx>
          <c:spPr>
            <a:solidFill xmlns:a="http://schemas.openxmlformats.org/drawingml/2006/main">
              <a:srgbClr val="5EC4FF"/>
            </a:solidFill>
          </c:spPr>
          <c:cat>
            <c:strRef>
              <c:f>'Chart Data'!$C$2:$C$4</c:f>
              <c:strCache>
                <c:ptCount val="3"/>
                <c:pt idx="0">
                  <c:v>7–8월</c:v>
                </c:pt>
                <c:pt idx="1">
                  <c:v>9–10월</c:v>
                </c:pt>
                <c:pt idx="2">
                  <c:v>11–12월</c:v>
                </c:pt>
              </c:strCache>
            </c:strRef>
          </c:cat>
          <c:val>
            <c:numRef>
              <c:f>'Chart Data'!$D$2:$D$4</c:f>
              <c:numCache>
                <c:formatCode>#,##0</c:formatCode>
                <c:ptCount val="3"/>
                <c:pt idx="0">
                  <c:v>5610</c:v>
                </c:pt>
                <c:pt idx="1">
                  <c:v>4140</c:v>
                </c:pt>
                <c:pt idx="2">
                  <c:v>1191</c:v>
                </c:pt>
              </c:numCache>
            </c:numRef>
          </c:val>
        </c:ser>
        <c:ser>
          <c:idx val="2"/>
          <c:order val="2"/>
          <c:tx>
            <c:v>작은 히스토그램</c:v>
          </c:tx>
          <c:spPr>
            <a:solidFill xmlns:a="http://schemas.openxmlformats.org/drawingml/2006/main">
              <a:srgbClr val="2D617A"/>
            </a:solidFill>
          </c:spPr>
          <c:cat>
            <c:strRef>
              <c:f>'Chart Data'!$E$2:$E$4</c:f>
              <c:strCache>
                <c:ptCount val="3"/>
                <c:pt idx="0">
                  <c:v>7–8월</c:v>
                </c:pt>
                <c:pt idx="1">
                  <c:v>9–10월</c:v>
                </c:pt>
                <c:pt idx="2">
                  <c:v>11–12월</c:v>
                </c:pt>
              </c:strCache>
            </c:strRef>
          </c:cat>
          <c:val>
            <c:numRef>
              <c:f>'Chart Data'!$F$2:$F$4</c:f>
              <c:numCache>
                <c:formatCode>#,##0</c:formatCode>
                <c:ptCount val="3"/>
                <c:pt idx="0">
                  <c:v>5463</c:v>
                </c:pt>
                <c:pt idx="1">
                  <c:v>4086</c:v>
                </c:pt>
                <c:pt idx="2">
                  <c:v>1020</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000000"/>
                  </a:solidFill>
                  <a:latin typeface="Helvetica Neue"/>
                  <a:ea typeface="Malgun Gothic"/>
                  <a:cs typeface="Malgun Gothic"/>
                </a:defRPr>
              </a:pPr>
            </a:p>
          </c:txPr>
          <c:dLblPos val="outEnd"/>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000000"/>
                </a:solidFill>
                <a:latin typeface="Helvetica Neue"/>
                <a:ea typeface="Malgun Gothic"/>
                <a:cs typeface="Malgun Gothi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Malgun Gothic"/>
                <a:cs typeface="Malgun Gothic"/>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3E3E3E"/>
              </a:solidFill>
              <a:latin typeface="Helvetica Neue"/>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최종</c:v>
          </c:tx>
          <c:spPr>
            <a:solidFill xmlns:a="http://schemas.openxmlformats.org/drawingml/2006/main">
              <a:srgbClr val="0077B8"/>
            </a:solidFill>
          </c:spPr>
          <c:cat>
            <c:numRef>
              <c:f>'Chart Data'!$A$2:$A$7</c:f>
              <c:numCache>
                <c:formatCode>General</c:formatCode>
                <c:ptCount val="6"/>
                <c:pt idx="0">
                  <c:v>11</c:v>
                </c:pt>
                <c:pt idx="1">
                  <c:v>12</c:v>
                </c:pt>
                <c:pt idx="2">
                  <c:v>13</c:v>
                </c:pt>
                <c:pt idx="3">
                  <c:v>21</c:v>
                </c:pt>
                <c:pt idx="4">
                  <c:v>35</c:v>
                </c:pt>
                <c:pt idx="5">
                  <c:v>82</c:v>
                </c:pt>
              </c:numCache>
            </c:numRef>
          </c:cat>
          <c:val>
            <c:numRef>
              <c:f>'Chart Data'!$B$2:$B$7</c:f>
              <c:numCache>
                <c:formatCode>#,##0</c:formatCode>
                <c:ptCount val="6"/>
                <c:pt idx="0">
                  <c:v>1830</c:v>
                </c:pt>
                <c:pt idx="1">
                  <c:v>903</c:v>
                </c:pt>
                <c:pt idx="2">
                  <c:v>1915</c:v>
                </c:pt>
                <c:pt idx="3">
                  <c:v>2000</c:v>
                </c:pt>
                <c:pt idx="4">
                  <c:v>2252</c:v>
                </c:pt>
                <c:pt idx="5">
                  <c:v>1380</c:v>
                </c:pt>
              </c:numCache>
            </c:numRef>
          </c:val>
        </c:ser>
        <c:ser>
          <c:idx val="1"/>
          <c:order val="1"/>
          <c:tx>
            <c:v>ET</c:v>
          </c:tx>
          <c:spPr>
            <a:solidFill xmlns:a="http://schemas.openxmlformats.org/drawingml/2006/main">
              <a:srgbClr val="5EC4FF"/>
            </a:solidFill>
          </c:spPr>
          <c:cat>
            <c:numRef>
              <c:f>'Chart Data'!$C$2:$C$7</c:f>
              <c:numCache>
                <c:formatCode>General</c:formatCode>
                <c:ptCount val="6"/>
                <c:pt idx="0">
                  <c:v>11</c:v>
                </c:pt>
                <c:pt idx="1">
                  <c:v>12</c:v>
                </c:pt>
                <c:pt idx="2">
                  <c:v>13</c:v>
                </c:pt>
                <c:pt idx="3">
                  <c:v>21</c:v>
                </c:pt>
                <c:pt idx="4">
                  <c:v>35</c:v>
                </c:pt>
                <c:pt idx="5">
                  <c:v>82</c:v>
                </c:pt>
              </c:numCache>
            </c:numRef>
          </c:cat>
          <c:val>
            <c:numRef>
              <c:f>'Chart Data'!$D$2:$D$7</c:f>
              <c:numCache>
                <c:formatCode>#,##0</c:formatCode>
                <c:ptCount val="6"/>
                <c:pt idx="0">
                  <c:v>1804</c:v>
                </c:pt>
                <c:pt idx="1">
                  <c:v>933</c:v>
                </c:pt>
                <c:pt idx="2">
                  <c:v>1947</c:v>
                </c:pt>
                <c:pt idx="3">
                  <c:v>2129</c:v>
                </c:pt>
                <c:pt idx="4">
                  <c:v>2719</c:v>
                </c:pt>
                <c:pt idx="5">
                  <c:v>1409</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000000"/>
                  </a:solidFill>
                  <a:latin typeface="Helvetica Neue"/>
                  <a:ea typeface="Malgun Gothic"/>
                  <a:cs typeface="Malgun Gothic"/>
                </a:defRPr>
              </a:pPr>
            </a:p>
          </c:txPr>
          <c:dLblPos val="outEnd"/>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000000"/>
                </a:solidFill>
                <a:latin typeface="Helvetica Neue"/>
                <a:ea typeface="Malgun Gothic"/>
                <a:cs typeface="Malgun Gothi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Malgun Gothic"/>
                <a:cs typeface="Malgun Gothic"/>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3E3E3E"/>
              </a:solidFill>
              <a:latin typeface="Helvetica Neue"/>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실제</c:v>
          </c:tx>
          <c:spPr>
            <a:ln xmlns:a="http://schemas.openxmlformats.org/drawingml/2006/main" w="28575">
              <a:solidFill>
                <a:srgbClr val="202C40"/>
              </a:solidFill>
            </a:ln>
          </c:spPr>
          <c:marker>
            <c:symbol val="none"/>
          </c:marker>
          <c:cat>
            <c:strRef>
              <c:f>'Chart Data'!$A$2:$A$22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Data'!$B$2:$B$22</c:f>
              <c:numCache>
                <c:formatCode>#,##0</c:formatCode>
                <c:ptCount val="21"/>
                <c:pt idx="0">
                  <c:v>13</c:v>
                </c:pt>
                <c:pt idx="1">
                  <c:v>12</c:v>
                </c:pt>
                <c:pt idx="2">
                  <c:v>42</c:v>
                </c:pt>
                <c:pt idx="3">
                  <c:v>20</c:v>
                </c:pt>
                <c:pt idx="4">
                  <c:v>24</c:v>
                </c:pt>
                <c:pt idx="5">
                  <c:v>20</c:v>
                </c:pt>
                <c:pt idx="6">
                  <c:v>18</c:v>
                </c:pt>
                <c:pt idx="7">
                  <c:v>29</c:v>
                </c:pt>
                <c:pt idx="8">
                  <c:v>28</c:v>
                </c:pt>
                <c:pt idx="9">
                  <c:v>28</c:v>
                </c:pt>
                <c:pt idx="10">
                  <c:v>33</c:v>
                </c:pt>
                <c:pt idx="11">
                  <c:v>15</c:v>
                </c:pt>
                <c:pt idx="12">
                  <c:v>33</c:v>
                </c:pt>
                <c:pt idx="13">
                  <c:v>16</c:v>
                </c:pt>
                <c:pt idx="14">
                  <c:v>20</c:v>
                </c:pt>
                <c:pt idx="15">
                  <c:v>29</c:v>
                </c:pt>
                <c:pt idx="16">
                  <c:v>26</c:v>
                </c:pt>
                <c:pt idx="17">
                  <c:v>30</c:v>
                </c:pt>
                <c:pt idx="18">
                  <c:v>30</c:v>
                </c:pt>
                <c:pt idx="19">
                  <c:v>31</c:v>
                </c:pt>
                <c:pt idx="20">
                  <c:v>30</c:v>
                </c:pt>
              </c:numCache>
            </c:numRef>
          </c:val>
          <c:smooth val="0"/>
        </c:ser>
        <c:ser>
          <c:idx val="1"/>
          <c:order val="1"/>
          <c:tx>
            <c:v>최종 권고</c:v>
          </c:tx>
          <c:spPr>
            <a:ln xmlns:a="http://schemas.openxmlformats.org/drawingml/2006/main" w="28575">
              <a:solidFill>
                <a:srgbClr val="0077B8"/>
              </a:solidFill>
            </a:ln>
          </c:spPr>
          <c:marker>
            <c:symbol val="none"/>
          </c:marker>
          <c:cat>
            <c:strRef>
              <c:f>'Chart Data'!$C$2:$C$22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Data'!$D$2:$D$22</c:f>
              <c:numCache>
                <c:formatCode>#,##0</c:formatCode>
                <c:ptCount val="21"/>
                <c:pt idx="0">
                  <c:v>21</c:v>
                </c:pt>
                <c:pt idx="1">
                  <c:v>22</c:v>
                </c:pt>
                <c:pt idx="2">
                  <c:v>26</c:v>
                </c:pt>
                <c:pt idx="3">
                  <c:v>24</c:v>
                </c:pt>
                <c:pt idx="4">
                  <c:v>23</c:v>
                </c:pt>
                <c:pt idx="5">
                  <c:v>25</c:v>
                </c:pt>
                <c:pt idx="6">
                  <c:v>27</c:v>
                </c:pt>
                <c:pt idx="7">
                  <c:v>28</c:v>
                </c:pt>
                <c:pt idx="8">
                  <c:v>31</c:v>
                </c:pt>
                <c:pt idx="9">
                  <c:v>39</c:v>
                </c:pt>
                <c:pt idx="10">
                  <c:v>28</c:v>
                </c:pt>
                <c:pt idx="11">
                  <c:v>32</c:v>
                </c:pt>
                <c:pt idx="12">
                  <c:v>28</c:v>
                </c:pt>
                <c:pt idx="13">
                  <c:v>33</c:v>
                </c:pt>
                <c:pt idx="14">
                  <c:v>31</c:v>
                </c:pt>
                <c:pt idx="15">
                  <c:v>31</c:v>
                </c:pt>
                <c:pt idx="16">
                  <c:v>43</c:v>
                </c:pt>
                <c:pt idx="17">
                  <c:v>31</c:v>
                </c:pt>
                <c:pt idx="18">
                  <c:v>31</c:v>
                </c:pt>
                <c:pt idx="19">
                  <c:v>31</c:v>
                </c:pt>
                <c:pt idx="20">
                  <c:v>34</c:v>
                </c:pt>
              </c:numCache>
            </c:numRef>
          </c:val>
          <c:smooth val="0"/>
        </c:ser>
        <c:ser>
          <c:idx val="2"/>
          <c:order val="2"/>
          <c:tx>
            <c:v>ET 권고</c:v>
          </c:tx>
          <c:spPr>
            <a:ln xmlns:a="http://schemas.openxmlformats.org/drawingml/2006/main" w="19050">
              <a:solidFill>
                <a:srgbClr val="5EC4FF"/>
              </a:solidFill>
            </a:ln>
          </c:spPr>
          <c:marker>
            <c:symbol val="none"/>
          </c:marker>
          <c:cat>
            <c:strRef>
              <c:f>'Chart Data'!$E$2:$E$22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Data'!$F$2:$F$22</c:f>
              <c:numCache>
                <c:formatCode>#,##0</c:formatCode>
                <c:ptCount val="21"/>
                <c:pt idx="0">
                  <c:v>20</c:v>
                </c:pt>
                <c:pt idx="1">
                  <c:v>23</c:v>
                </c:pt>
                <c:pt idx="2">
                  <c:v>25</c:v>
                </c:pt>
                <c:pt idx="3">
                  <c:v>23</c:v>
                </c:pt>
                <c:pt idx="4">
                  <c:v>23</c:v>
                </c:pt>
                <c:pt idx="5">
                  <c:v>25</c:v>
                </c:pt>
                <c:pt idx="6">
                  <c:v>27</c:v>
                </c:pt>
                <c:pt idx="7">
                  <c:v>27</c:v>
                </c:pt>
                <c:pt idx="8">
                  <c:v>32</c:v>
                </c:pt>
                <c:pt idx="9">
                  <c:v>39</c:v>
                </c:pt>
                <c:pt idx="10">
                  <c:v>26</c:v>
                </c:pt>
                <c:pt idx="11">
                  <c:v>32</c:v>
                </c:pt>
                <c:pt idx="12">
                  <c:v>27</c:v>
                </c:pt>
                <c:pt idx="13">
                  <c:v>33</c:v>
                </c:pt>
                <c:pt idx="14">
                  <c:v>29</c:v>
                </c:pt>
                <c:pt idx="15">
                  <c:v>29</c:v>
                </c:pt>
                <c:pt idx="16">
                  <c:v>46</c:v>
                </c:pt>
                <c:pt idx="17">
                  <c:v>29</c:v>
                </c:pt>
                <c:pt idx="18">
                  <c:v>31</c:v>
                </c:pt>
                <c:pt idx="19">
                  <c:v>32</c:v>
                </c:pt>
                <c:pt idx="20">
                  <c:v>34</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Malgun Gothic"/>
                  <a:cs typeface="Malgun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Helvetica Neue"/>
                <a:ea typeface="Malgun Gothic"/>
                <a:cs typeface="Malgun Gothi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Malgun Gothic"/>
                <a:cs typeface="Malgun Gothic"/>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200">
              <a:latin typeface="Helvetica Neue"/>
              <a:ea typeface="Malgun Gothic"/>
              <a:cs typeface="Malgun Gothic"/>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4324DD7-B2A7-C70F-0160-11F227D46A09}"/>
              </a:ext>
            </a:extLst>
          </p:cNvPr>
          <p:cNvSpPr>
            <a:spLocks xmlns:a="http://schemas.openxmlformats.org/drawingml/2006/main" noGrp="1"/>
          </p:cNvSpPr>
          <p:nvPr>
            <p:ph type="ctrTitle" idx="0"/>
          </p:nvPr>
        </p:nvSpPr>
        <p:spPr>
          <a:xfrm xmlns:a="http://schemas.openxmlformats.org/drawingml/2006/main">
            <a:off x="626339" y="449662"/>
            <a:ext cx="6730425" cy="2401447"/>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6150" b="0">
                <a:solidFill>
                  <a:srgbClr val="2D617A"/>
                </a:solidFill>
                <a:latin typeface="Helvetica Neue"/>
                <a:ea typeface="Malgun Gothic"/>
                <a:cs typeface="Malgun Gothic"/>
              </a:defRPr>
            </a:pPr>
            <a:r>
              <a:rPr sz="6150" b="0">
                <a:solidFill>
                  <a:srgbClr val="2D617A"/>
                </a:solidFill>
                <a:latin typeface="Helvetica Neue"/>
                <a:ea typeface="Malgun Gothic"/>
                <a:cs typeface="Malgun Gothic"/>
              </a:rPr>
              <a:t>내일의 빵</a:t>
            </a:r>
          </a:p>
          <a:p xmlns:a="http://schemas.openxmlformats.org/drawingml/2006/main">
            <a:pPr marL="0" indent="0">
              <a:lnSpc>
                <a:spcPct val="110000"/>
              </a:lnSpc>
              <a:spcBef>
                <a:spcPts val="0"/>
              </a:spcBef>
              <a:spcAft>
                <a:spcPts val="0"/>
              </a:spcAft>
              <a:buNone/>
              <a:defRPr sz="6150" b="0">
                <a:solidFill>
                  <a:srgbClr val="2D617A"/>
                </a:solidFill>
                <a:latin typeface="Helvetica Neue"/>
                <a:ea typeface="Malgun Gothic"/>
                <a:cs typeface="Malgun Gothic"/>
              </a:defRPr>
            </a:pPr>
            <a:r>
              <a:rPr sz="6150" b="0">
                <a:solidFill>
                  <a:srgbClr val="2D617A"/>
                </a:solidFill>
                <a:latin typeface="Helvetica Neue"/>
                <a:ea typeface="Malgun Gothic"/>
                <a:cs typeface="Malgun Gothic"/>
              </a:rPr>
              <a:t>최종 모델 검증</a:t>
            </a:r>
          </a:p>
        </p:txBody>
      </p:sp>
      <p:sp>
        <p:nvSpPr>
          <p:cNvPr id="5" name="Subtitle 4">
            <a:extLst xmlns:a="http://schemas.openxmlformats.org/drawingml/2006/main">
              <a:ext uri="{FF2B5EF4-FFF2-40B4-BE49-F238E27FC236}">
                <a16:creationId xmlns:a16="http://schemas.microsoft.com/office/drawing/2014/main" id="{43501A55-18E1-9822-7454-1E3D85380DC1}"/>
              </a:ext>
            </a:extLst>
          </p:cNvPr>
          <p:cNvSpPr>
            <a:spLocks xmlns:a="http://schemas.openxmlformats.org/drawingml/2006/main" noGrp="1"/>
          </p:cNvSpPr>
          <p:nvPr>
            <p:ph type="subTitle" idx="1"/>
          </p:nvPr>
        </p:nvSpPr>
        <p:spPr>
          <a:xfrm xmlns:a="http://schemas.openxmlformats.org/drawingml/2006/main">
            <a:off x="642669" y="3564938"/>
            <a:ext cx="7143750" cy="614676"/>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과거 보고와 순차 보정 재실험</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2026년 9월 14일</a:t>
            </a:r>
          </a:p>
        </p:txBody>
      </p:sp>
      <p:pic>
        <p:nvPicPr>
          <p:cNvPr id="9" name="Picture 2"/>
          <p:cNvPicPr>
            <a:picLocks xmlns:a="http://schemas.openxmlformats.org/drawingml/2006/main" noChangeAspect="1"/>
          </p:cNvPicPr>
          <p:nvPr/>
        </p:nvPicPr>
        <p:blipFill>
          <a:blip xmlns:r="http://schemas.openxmlformats.org/officeDocument/2006/relationships" xmlns:a="http://schemas.openxmlformats.org/drawingml/2006/main" r:embed="R6d59e89501214427"/>
          <a:srcRect xmlns:a="http://schemas.openxmlformats.org/drawingml/2006/main" l="0" t="25645" r="0" b="61469"/>
          <a:stretch xmlns:a="http://schemas.openxmlformats.org/drawingml/2006/main">
            <a:fillRect l="0" t="0" r="0" b="0"/>
          </a:stretch>
        </p:blipFill>
        <p:spPr>
          <a:xfrm xmlns:a="http://schemas.openxmlformats.org/drawingml/2006/main">
            <a:off x="0" y="4763386"/>
            <a:ext cx="12190542" cy="2094614"/>
          </a:xfrm>
          <a:prstGeom xmlns:a="http://schemas.openxmlformats.org/drawingml/2006/main" prst="rect">
            <a:avLst/>
          </a:prstGeom>
        </p:spPr>
      </p:pic>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서로 다른 세 가지 비교</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관측 수와 업데이트 방식이 달라 각 실험 안에서만 결과를 비교합니다.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0" name=""/>
          <p:cNvGraphicFramePr/>
          <p:nvPr/>
        </p:nvGraphicFramePr>
        <p:xfrm>
          <a:off xmlns:a="http://schemas.openxmlformats.org/drawingml/2006/main" x="393668" y="2305050"/>
          <a:ext xmlns:a="http://schemas.openxmlformats.org/drawingml/2006/main" cx="11404568" cy="2933700"/>
        </p:xfrm>
        <a:graphic xmlns:a="http://schemas.openxmlformats.org/drawingml/2006/main">
          <a:graphicData uri="http://schemas.openxmlformats.org/drawingml/2006/table">
            <a:tbl>
              <a:tblPr firstRow="1" bandRow="0"/>
              <a:tblGrid>
                <a:gridCol w="3667125"/>
                <a:gridCol w="1238250"/>
                <a:gridCol w="2000250"/>
                <a:gridCol w="1666875"/>
                <a:gridCol w="2832068"/>
              </a:tblGrid>
              <a:tr h="733425">
                <a:tc>
                  <a:txBody>
                    <a:bodyPr lIns="66675" tIns="47625" rIns="66675" bIns="38100">
                      <a:noAutofit/>
                    </a:bodyPr>
                    <a:lstStyle/>
                    <a:p>
                      <a:pPr algn="l"/>
                      <a:r>
                        <a:rPr sz="1800" b="1">
                          <a:solidFill>
                            <a:srgbClr val="0077B8"/>
                          </a:solidFill>
                          <a:latin typeface="Helvetica Neue"/>
                          <a:ea typeface="Malgun Gothic"/>
                          <a:cs typeface="Malgun Gothic"/>
                        </a:rPr>
                        <a:t>구분</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관측 수</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최종 손실</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근거 수준</a:t>
                      </a:r>
                    </a:p>
                  </a:txBody>
                  <a:tcPr marL="91440" marR="91440" marT="45720" marB="45720" anchor="ctr">
                    <a:solidFill>
                      <a:srgbClr val="FFFFFF"/>
                    </a:solidFill>
                  </a:tcPr>
                </a:tc>
              </a:tr>
              <a:tr h="733425">
                <a:tc>
                  <a:txBody>
                    <a:bodyPr lIns="66675" tIns="47625" rIns="66675" bIns="38100">
                      <a:noAutofit/>
                    </a:bodyPr>
                    <a:lstStyle/>
                    <a:p>
                      <a:pPr algn="l"/>
                      <a:r>
                        <a:rPr sz="1800" b="0">
                          <a:solidFill>
                            <a:srgbClr val="000000"/>
                          </a:solidFill>
                          <a:latin typeface="Helvetica Neue"/>
                          <a:ea typeface="Malgun Gothic"/>
                          <a:cs typeface="Malgun Gothic"/>
                        </a:rPr>
                        <a:t>과거 대화의 최종 모델</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970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19,200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23.61%</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보고값</a:t>
                      </a:r>
                    </a:p>
                  </a:txBody>
                  <a:tcPr marL="91440" marR="91440" marT="45720" marB="45720" anchor="ctr">
                    <a:solidFill>
                      <a:srgbClr val="FFFFFF"/>
                    </a:solidFill>
                  </a:tcPr>
                </a:tc>
              </a:tr>
              <a:tr h="733425">
                <a:tc>
                  <a:txBody>
                    <a:bodyPr lIns="66675" tIns="47625" rIns="66675" bIns="38100">
                      <a:noAutofit/>
                    </a:bodyPr>
                    <a:lstStyle/>
                    <a:p>
                      <a:pPr algn="l"/>
                      <a:r>
                        <a:rPr sz="1800" b="0">
                          <a:solidFill>
                            <a:srgbClr val="000000"/>
                          </a:solidFill>
                          <a:latin typeface="Helvetica Neue"/>
                          <a:ea typeface="Malgun Gothic"/>
                          <a:cs typeface="Malgun Gothic"/>
                        </a:rPr>
                        <a:t>신규 고정 보정</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974</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12,481</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29.30%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예측자료 재계산</a:t>
                      </a:r>
                    </a:p>
                  </a:txBody>
                  <a:tcPr marL="91440" marR="91440" marT="45720" marB="45720" anchor="ctr">
                    <a:solidFill>
                      <a:srgbClr val="FFFFFF"/>
                    </a:solidFill>
                  </a:tcPr>
                </a:tc>
              </a:tr>
              <a:tr h="733425">
                <a:tc>
                  <a:txBody>
                    <a:bodyPr lIns="66675" tIns="47625" rIns="66675" bIns="38100">
                      <a:noAutofit/>
                    </a:bodyPr>
                    <a:lstStyle/>
                    <a:p>
                      <a:pPr algn="l"/>
                      <a:r>
                        <a:rPr sz="1800" b="0">
                          <a:solidFill>
                            <a:srgbClr val="000000"/>
                          </a:solidFill>
                          <a:latin typeface="Helvetica Neue"/>
                          <a:ea typeface="Malgun Gothic"/>
                          <a:cs typeface="Malgun Gothic"/>
                        </a:rPr>
                        <a:t>신규 매주 비중·매일 보정</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974</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10,280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25.82%</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예측자료 재계산</a:t>
                      </a:r>
                    </a:p>
                  </a:txBody>
                  <a:tcPr marL="91440" marR="91440" marT="45720" marB="45720"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D5EC17EF-C25C-4360-BDD0-B2FCC76ECF9D}"/>
              </a:ext>
            </a:extLst>
          </p:cNvPr>
          <p:cNvSpPr>
            <a:spLocks xmlns:a="http://schemas.openxmlformats.org/drawingml/2006/main" noGrp="1"/>
          </p:cNvSpPr>
          <p:nvPr/>
        </p:nvSpPr>
        <p:spPr>
          <a:xfrm xmlns:a="http://schemas.openxmlformats.org/drawingml/2006/main">
            <a:off x="400050" y="5572125"/>
            <a:ext cx="1138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신규 공통 분모: 날짜·상품 974개 관측, 실제 판매 합계 23,373개, 3개 평가기간</a:t>
            </a:r>
          </a:p>
        </p:txBody>
      </p:sp>
    </p:spTree>
    <p:extLst>
      <p:ext uri="{BB962C8B-B14F-4D97-AF65-F5344CB8AC3E}">
        <p14:creationId xmlns:p14="http://schemas.microsoft.com/office/powerpoint/2010/main" val="3298548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370개 관측</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학습 종료 05-05</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보정 05-06~06-30</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평가 07-01~08-31</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202359C0-8A7A-196E-DD58-8E6569619F09}" type="slidenum">
              <a:t>3</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실험 기간과 공통 데이터</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366개 관측</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학습 종료 07-06</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보정 07-07~08-31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평가 09-01~10-31</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238개 관측</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학습 종료 09-05</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보정 09-06~10-31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평가 11-01~12-11</a:t>
            </a:r>
          </a:p>
        </p:txBody>
      </p:sp>
      <p:cxnSp>
        <p:nvCxnSpPr>
          <p:cNvPr id="25"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7–8월</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9–10월</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11–12월</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9" name="">
            <a:extLst xmlns:a="http://schemas.openxmlformats.org/drawingml/2006/main">
              <a:ext uri="{FF2B5EF4-FFF2-40B4-BE49-F238E27FC236}">
                <a16:creationId xmlns:a16="http://schemas.microsoft.com/office/drawing/2014/main" id="{1823D906-07A5-4A51-9430-F1658A6E5761}"/>
              </a:ext>
            </a:extLst>
          </p:cNvPr>
          <p:cNvSpPr>
            <a:spLocks xmlns:a="http://schemas.openxmlformats.org/drawingml/2006/main" noGrp="1"/>
          </p:cNvSpPr>
          <p:nvPr/>
        </p:nvSpPr>
        <p:spPr>
          <a:xfrm xmlns:a="http://schemas.openxmlformats.org/drawingml/2006/main">
            <a:off x="393668" y="1352550"/>
            <a:ext cx="1114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독일 빵집 순판매수량 3,505행, 상품 6종</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원자료 2022-01-01~2023-12-11. 결측을 판매 0으로 채우지 않습니다.</a:t>
            </a:r>
          </a:p>
        </p:txBody>
      </p:sp>
    </p:spTree>
    <p:extLst>
      <p:ext uri="{BB962C8B-B14F-4D97-AF65-F5344CB8AC3E}">
        <p14:creationId xmlns:p14="http://schemas.microsoft.com/office/powerpoint/2010/main" val="34463389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009"/>
            <a:ext cx="114046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최종 모델의 결합 구조</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025321"/>
            <a:ext cx="5533887" cy="1320801"/>
          </a:xfrm>
          <a:prstGeom xmlns:a="http://schemas.openxmlformats.org/drawingml/2006/main" prst="roundRect">
            <a:avLst>
              <a:gd name="adj" fmla="val 0"/>
            </a:avLst>
          </a:prstGeom>
          <a:solidFill xmlns:a="http://schemas.openxmlformats.org/drawingml/2006/main">
            <a:schemeClr val="accent5">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274205"/>
            <a:ext cx="4986886" cy="877788"/>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950" b="0">
                <a:solidFill>
                  <a:srgbClr val="000000"/>
                </a:solidFill>
                <a:latin typeface="Helvetica Neue"/>
                <a:ea typeface="Malgun Gothic"/>
                <a:cs typeface="Malgun Gothic"/>
              </a:defRPr>
            </a:pPr>
            <a:r>
              <a:rPr sz="1950" b="0">
                <a:solidFill>
                  <a:srgbClr val="000000"/>
                </a:solidFill>
                <a:latin typeface="Helvetica Neue"/>
                <a:ea typeface="Malgun Gothic"/>
                <a:cs typeface="Malgun Gothic"/>
              </a:rPr>
              <a:t>Extra Trees 분위수숲</a:t>
            </a:r>
          </a:p>
          <a:p xmlns:a="http://schemas.openxmlformats.org/drawingml/2006/main">
            <a:pPr marL="0" indent="0">
              <a:lnSpc>
                <a:spcPct val="110000"/>
              </a:lnSpc>
              <a:spcBef>
                <a:spcPts val="0"/>
              </a:spcBef>
              <a:spcAft>
                <a:spcPts val="0"/>
              </a:spcAft>
              <a:buNone/>
              <a:defRPr sz="1950" b="0">
                <a:solidFill>
                  <a:srgbClr val="000000"/>
                </a:solidFill>
                <a:latin typeface="Helvetica Neue"/>
                <a:ea typeface="Malgun Gothic"/>
                <a:cs typeface="Malgun Gothic"/>
              </a:defRPr>
            </a:pPr>
            <a:r>
              <a:rPr sz="1950" b="0">
                <a:solidFill>
                  <a:srgbClr val="000000"/>
                </a:solidFill>
                <a:latin typeface="Helvetica Neue"/>
                <a:ea typeface="Malgun Gothic"/>
                <a:cs typeface="Malgun Gothic"/>
              </a:rPr>
              <a:t>바깥 가지의 비중 26.7543%</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514850"/>
            <a:ext cx="5236652" cy="977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학습 때 만든 나무 구조 고정</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시험 전 56일의 상품별 보정 고정</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025321"/>
            <a:ext cx="5533887" cy="1320801"/>
          </a:xfrm>
          <a:prstGeom xmlns:a="http://schemas.openxmlformats.org/drawingml/2006/main" prst="roundRect">
            <a:avLst>
              <a:gd name="adj" fmla="val 0"/>
            </a:avLst>
          </a:prstGeom>
          <a:solidFill xmlns:a="http://schemas.openxmlformats.org/drawingml/2006/main">
            <a:schemeClr val="accent5">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274205"/>
            <a:ext cx="4986886" cy="877788"/>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950" b="0">
                <a:solidFill>
                  <a:srgbClr val="000000"/>
                </a:solidFill>
                <a:latin typeface="Helvetica Neue"/>
                <a:ea typeface="Malgun Gothic"/>
                <a:cs typeface="Malgun Gothic"/>
              </a:defRPr>
            </a:pPr>
            <a:r>
              <a:rPr sz="1950" b="0">
                <a:solidFill>
                  <a:srgbClr val="000000"/>
                </a:solidFill>
                <a:latin typeface="Helvetica Neue"/>
                <a:ea typeface="Malgun Gothic"/>
                <a:cs typeface="Malgun Gothic"/>
              </a:rPr>
              <a:t>내부 앙상블</a:t>
            </a:r>
          </a:p>
          <a:p xmlns:a="http://schemas.openxmlformats.org/drawingml/2006/main">
            <a:pPr marL="0" indent="0">
              <a:lnSpc>
                <a:spcPct val="110000"/>
              </a:lnSpc>
              <a:spcBef>
                <a:spcPts val="0"/>
              </a:spcBef>
              <a:spcAft>
                <a:spcPts val="0"/>
              </a:spcAft>
              <a:buNone/>
              <a:defRPr sz="1950" b="0">
                <a:solidFill>
                  <a:srgbClr val="000000"/>
                </a:solidFill>
                <a:latin typeface="Helvetica Neue"/>
                <a:ea typeface="Malgun Gothic"/>
                <a:cs typeface="Malgun Gothic"/>
              </a:defRPr>
            </a:pPr>
            <a:r>
              <a:rPr sz="1950" b="0">
                <a:solidFill>
                  <a:srgbClr val="000000"/>
                </a:solidFill>
                <a:latin typeface="Helvetica Neue"/>
                <a:ea typeface="Malgun Gothic"/>
                <a:cs typeface="Malgun Gothic"/>
              </a:rPr>
              <a:t>다섯 예측기의 비중을 매주 갱신</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514850"/>
            <a:ext cx="5236652" cy="977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ET, CatBoost, 크기 보정 CatBoost</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Spline Ridge, 같은 요일 8회 분포</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2175" b="0">
                <a:solidFill>
                  <a:srgbClr val="000000"/>
                </a:solidFill>
                <a:latin typeface="Helvetica Neue"/>
                <a:ea typeface="Malgun Gothic"/>
                <a:cs typeface="Malgun Gothic"/>
              </a:defRPr>
            </a:pPr>
            <a:r>
              <a:rPr sz="2175" b="0">
                <a:solidFill>
                  <a:srgbClr val="000000"/>
                </a:solidFill>
                <a:latin typeface="Helvetica Neue"/>
                <a:ea typeface="Malgun Gothic"/>
                <a:cs typeface="Malgun Gothic"/>
              </a:rPr>
              <a:t>생산량 = 26.7543% × Extra Trees + 73.2457% × 내부 앙상블</a:t>
            </a:r>
          </a:p>
          <a:p xmlns:a="http://schemas.openxmlformats.org/drawingml/2006/main">
            <a:pPr marL="0" indent="0">
              <a:lnSpc>
                <a:spcPct val="110000"/>
              </a:lnSpc>
              <a:spcBef>
                <a:spcPts val="0"/>
              </a:spcBef>
              <a:spcAft>
                <a:spcPts val="0"/>
              </a:spcAft>
              <a:buNone/>
              <a:defRPr sz="2175" b="0">
                <a:solidFill>
                  <a:srgbClr val="000000"/>
                </a:solidFill>
                <a:latin typeface="Helvetica Neue"/>
                <a:ea typeface="Malgun Gothic"/>
                <a:cs typeface="Malgun Gothic"/>
              </a:defRPr>
            </a:pPr>
            <a:r>
              <a:rPr sz="2175" b="0">
                <a:solidFill>
                  <a:srgbClr val="000000"/>
                </a:solidFill>
                <a:latin typeface="Helvetica Neue"/>
                <a:ea typeface="Malgun Gothic"/>
                <a:cs typeface="Malgun Gothic"/>
              </a:rPr>
              <a:t>각 가지의 P75를 결합하고 음수를 막은 뒤 정수로 올립니다.</a:t>
            </a:r>
          </a:p>
        </p:txBody>
      </p:sp>
      <p:sp>
        <p:nvSpPr>
          <p:cNvPr id="26" name="Content Placeholder 15">
            <a:extLst xmlns:a="http://schemas.openxmlformats.org/drawingml/2006/main">
              <a:ext uri="{FF2B5EF4-FFF2-40B4-BE49-F238E27FC236}">
                <a16:creationId xmlns:a16="http://schemas.microsoft.com/office/drawing/2014/main" id="{E7F409CA-A992-D5A3-DF49-49CFA53E418B}"/>
              </a:ext>
            </a:extLst>
          </p:cNvPr>
          <p:cNvSpPr>
            <a:spLocks xmlns:a="http://schemas.openxmlformats.org/drawingml/2006/main" noGrp="1"/>
          </p:cNvSpPr>
          <p:nvPr/>
        </p:nvSpPr>
        <p:spPr>
          <a:xfrm xmlns:a="http://schemas.openxmlformats.org/drawingml/2006/main">
            <a:off x="400939" y="5617936"/>
            <a:ext cx="11404599" cy="529823"/>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650" b="0">
                <a:solidFill>
                  <a:srgbClr val="000000"/>
                </a:solidFill>
                <a:latin typeface="Helvetica Neue"/>
                <a:ea typeface="Malgun Gothic"/>
                <a:cs typeface="Malgun Gothic"/>
              </a:defRPr>
            </a:pPr>
            <a:r>
              <a:rPr sz="1650" b="0">
                <a:solidFill>
                  <a:srgbClr val="000000"/>
                </a:solidFill>
                <a:latin typeface="Helvetica Neue"/>
                <a:ea typeface="Malgun Gothic"/>
                <a:cs typeface="Malgun Gothic"/>
              </a:rPr>
              <a:t>최근 56일의 지난 예측과 실제값으로 비중·잔차를 갱신합니다. 기본 모델의 재학습은 없습니다.</a:t>
            </a:r>
          </a:p>
        </p:txBody>
      </p:sp>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4624586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판매량 예측 오차</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WAPE = 절대오차 합 ÷ 실제 판매량 합</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P50 예측과 관측 순판매량을 비교</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E5B3003-2C54-13C6-9832-7637201064DE}" type="slidenum">
              <a:t>5</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생산 권고의 손실</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손실 = 초과수량 + 3 × 부족수량</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P75를 올림한 권고량으로 계산</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평가 지표와 3:1 가정</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수량 단위의 모의 비교</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초과 = max(권고−판매, 0)</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부족 = max(판매−권고, 0)</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비용 비율은 가정</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부족비용:초과비용 = 3:1</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실제 상품별 원가·마진으로 교체 필요</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과거 970건에서 보고한 비교</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대화 기록상 결과입니다. 원예측을 확보하지 못해 이번 재실험과 구분합니다.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39" name=""/>
          <p:cNvGraphicFramePr/>
          <p:nvPr/>
        </p:nvGraphicFramePr>
        <p:xfrm>
          <a:off xmlns:a="http://schemas.openxmlformats.org/drawingml/2006/main" x="393668" y="2209800"/>
          <a:ext xmlns:a="http://schemas.openxmlformats.org/drawingml/2006/main" cx="11404568" cy="3667125"/>
        </p:xfrm>
        <a:graphic xmlns:a="http://schemas.openxmlformats.org/drawingml/2006/main">
          <a:graphicData uri="http://schemas.openxmlformats.org/drawingml/2006/table">
            <a:tbl>
              <a:tblPr firstRow="1" bandRow="0"/>
              <a:tblGrid>
                <a:gridCol w="3762375"/>
                <a:gridCol w="1905000"/>
                <a:gridCol w="1905000"/>
                <a:gridCol w="1952625"/>
                <a:gridCol w="1879568"/>
              </a:tblGrid>
              <a:tr h="523875">
                <a:tc>
                  <a:txBody>
                    <a:bodyPr lIns="66675" tIns="47625" rIns="66675" bIns="38100">
                      <a:noAutofit/>
                    </a:bodyPr>
                    <a:lstStyle/>
                    <a:p>
                      <a:pPr algn="l"/>
                      <a:r>
                        <a:rPr sz="1800" b="1">
                          <a:solidFill>
                            <a:srgbClr val="0077B8"/>
                          </a:solidFill>
                          <a:latin typeface="Helvetica Neue"/>
                          <a:ea typeface="Malgun Gothic"/>
                          <a:cs typeface="Malgun Gothic"/>
                        </a:rPr>
                        <a:t>모델</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초과수량</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부족수량</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3:1 손실</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WAPE</a:t>
                      </a:r>
                    </a:p>
                  </a:txBody>
                  <a:tcPr marL="91440" marR="91440" marT="45720" marB="45720" anchor="ctr">
                    <a:solidFill>
                      <a:srgbClr val="FFFFFF"/>
                    </a:solidFill>
                  </a:tcPr>
                </a:tc>
              </a:tr>
              <a:tr h="523875">
                <a:tc>
                  <a:txBody>
                    <a:bodyPr lIns="66675" tIns="47625" rIns="66675" bIns="38100">
                      <a:noAutofit/>
                    </a:bodyPr>
                    <a:lstStyle/>
                    <a:p>
                      <a:pPr algn="l"/>
                      <a:r>
                        <a:rPr sz="1800" b="0">
                          <a:solidFill>
                            <a:srgbClr val="000000"/>
                          </a:solidFill>
                          <a:latin typeface="Helvetica Neue"/>
                          <a:ea typeface="Malgun Gothic"/>
                          <a:cs typeface="Malgun Gothic"/>
                        </a:rPr>
                        <a:t>Extra Trees</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8,979</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3,789</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20,346</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25.73%</a:t>
                      </a:r>
                    </a:p>
                  </a:txBody>
                  <a:tcPr marL="91440" marR="91440" marT="45720" marB="45720" anchor="ctr">
                    <a:solidFill>
                      <a:srgbClr val="FFFFFF"/>
                    </a:solidFill>
                  </a:tcPr>
                </a:tc>
              </a:tr>
              <a:tr h="523875">
                <a:tc>
                  <a:txBody>
                    <a:bodyPr lIns="66675" tIns="47625" rIns="66675" bIns="38100">
                      <a:noAutofit/>
                    </a:bodyPr>
                    <a:lstStyle/>
                    <a:p>
                      <a:pPr algn="l"/>
                      <a:r>
                        <a:rPr sz="1800" b="0">
                          <a:solidFill>
                            <a:srgbClr val="000000"/>
                          </a:solidFill>
                          <a:latin typeface="Helvetica Neue"/>
                          <a:ea typeface="Malgun Gothic"/>
                          <a:cs typeface="Malgun Gothic"/>
                        </a:rPr>
                        <a:t>내부 앙상블</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11,311</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2,693</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19,390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23.77%</a:t>
                      </a:r>
                    </a:p>
                  </a:txBody>
                  <a:tcPr marL="91440" marR="91440" marT="45720" marB="45720" anchor="ctr">
                    <a:solidFill>
                      <a:srgbClr val="FFFFFF"/>
                    </a:solidFill>
                  </a:tcPr>
                </a:tc>
              </a:tr>
              <a:tr h="523875">
                <a:tc>
                  <a:txBody>
                    <a:bodyPr lIns="66675" tIns="47625" rIns="66675" bIns="38100">
                      <a:noAutofit/>
                    </a:bodyPr>
                    <a:lstStyle/>
                    <a:p>
                      <a:pPr algn="l"/>
                      <a:r>
                        <a:rPr sz="1800" b="0">
                          <a:solidFill>
                            <a:srgbClr val="000000"/>
                          </a:solidFill>
                          <a:latin typeface="Helvetica Neue"/>
                          <a:ea typeface="Malgun Gothic"/>
                          <a:cs typeface="Malgun Gothic"/>
                        </a:rPr>
                        <a:t>고정 50:50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10,115</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3,069</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19,322</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23.87%</a:t>
                      </a:r>
                    </a:p>
                  </a:txBody>
                  <a:tcPr marL="91440" marR="91440" marT="45720" marB="45720" anchor="ctr">
                    <a:solidFill>
                      <a:srgbClr val="FFFFFF"/>
                    </a:solidFill>
                  </a:tcPr>
                </a:tc>
              </a:tr>
              <a:tr h="523875">
                <a:tc>
                  <a:txBody>
                    <a:bodyPr lIns="66675" tIns="47625" rIns="66675" bIns="38100">
                      <a:noAutofit/>
                    </a:bodyPr>
                    <a:lstStyle/>
                    <a:p>
                      <a:pPr algn="l"/>
                      <a:r>
                        <a:rPr sz="1800" b="0">
                          <a:solidFill>
                            <a:srgbClr val="000000"/>
                          </a:solidFill>
                          <a:latin typeface="Helvetica Neue"/>
                          <a:ea typeface="Malgun Gothic"/>
                          <a:cs typeface="Malgun Gothic"/>
                        </a:rPr>
                        <a:t>상품별 선택</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10,787</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2,985</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19,742</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23.63%</a:t>
                      </a:r>
                    </a:p>
                  </a:txBody>
                  <a:tcPr marL="91440" marR="91440" marT="45720" marB="45720" anchor="ctr">
                    <a:solidFill>
                      <a:srgbClr val="FFFFFF"/>
                    </a:solidFill>
                  </a:tcPr>
                </a:tc>
              </a:tr>
              <a:tr h="523875">
                <a:tc>
                  <a:txBody>
                    <a:bodyPr lIns="66675" tIns="47625" rIns="66675" bIns="38100">
                      <a:noAutofit/>
                    </a:bodyPr>
                    <a:lstStyle/>
                    <a:p>
                      <a:pPr algn="l"/>
                      <a:r>
                        <a:rPr sz="1800" b="0">
                          <a:solidFill>
                            <a:srgbClr val="000000"/>
                          </a:solidFill>
                          <a:latin typeface="Helvetica Neue"/>
                          <a:ea typeface="Malgun Gothic"/>
                          <a:cs typeface="Malgun Gothic"/>
                        </a:rPr>
                        <a:t>상품별 가중</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10,675</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2,971</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19,588</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23.51%</a:t>
                      </a:r>
                    </a:p>
                  </a:txBody>
                  <a:tcPr marL="91440" marR="91440" marT="45720" marB="45720" anchor="ctr">
                    <a:solidFill>
                      <a:srgbClr val="FFFFFF"/>
                    </a:solidFill>
                  </a:tcPr>
                </a:tc>
              </a:tr>
              <a:tr h="523875">
                <a:tc>
                  <a:txBody>
                    <a:bodyPr lIns="66675" tIns="47625" rIns="66675" bIns="38100">
                      <a:noAutofit/>
                    </a:bodyPr>
                    <a:lstStyle/>
                    <a:p>
                      <a:pPr algn="l"/>
                      <a:r>
                        <a:rPr sz="1800" b="0">
                          <a:solidFill>
                            <a:srgbClr val="000000"/>
                          </a:solidFill>
                          <a:latin typeface="Helvetica Neue"/>
                          <a:ea typeface="Malgun Gothic"/>
                          <a:cs typeface="Malgun Gothic"/>
                        </a:rPr>
                        <a:t>최종 26.75:73.25</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10,647</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2,851</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19,200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23.61%</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과거 50:50 대비 손실 122 감소</a:t>
            </a: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부족수량 218개 감소</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2,851 − 3,069 = −218</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3배 손실로 환산하면 −654</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초과수량 532개 증가</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10,647 − 10,115 = 532</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순손실 122 감소</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532 − 654 = −122</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19,322에서 19,200, 약 0.63%</a:t>
            </a:r>
          </a:p>
        </p:txBody>
      </p:sp>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4" name="Chart"/>
          <p:cNvGraphicFramePr/>
          <p:nvPr/>
        </p:nvGraphicFramePr>
        <p:xfrm>
          <a:off xmlns:a="http://schemas.openxmlformats.org/drawingml/2006/main" x="385858" y="1524000"/>
          <a:ext xmlns:a="http://schemas.openxmlformats.org/drawingml/2006/main" cx="5534216" cy="4305300"/>
        </p:xfrm>
        <a:graphic xmlns:a="http://schemas.openxmlformats.org/drawingml/2006/main">
          <a:graphicData uri="http://schemas.openxmlformats.org/drawingml/2006/chart">
            <c:chart xmlns:r="http://schemas.openxmlformats.org/officeDocument/2006/relationships" xmlns:c="http://schemas.openxmlformats.org/drawingml/2006/chart" r:id="R786528ea19d143fa"/>
          </a:graphicData>
        </a:graphic>
      </p:graphicFrame>
    </p:spTree>
    <p:extLst>
      <p:ext uri="{BB962C8B-B14F-4D97-AF65-F5344CB8AC3E}">
        <p14:creationId xmlns:p14="http://schemas.microsoft.com/office/powerpoint/2010/main" val="31459752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처음 재구성한 고정 보정</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시험 전 28일로 내부 비중 결정</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별도 28일 잔차로 보정한 뒤 유지</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BA58DA2A-B818-18A9-29C1-B697728D5BCE}" type="slidenum">
              <a:t>8</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기록에 맞춘 순차 보정</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최근 56일로 매주 비중 갱신</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상품별 최근 56일 잔차를 매일 갱신</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고정 보정과 순차 보정의 차이</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예측 시점의 정보만 사용</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월요일 비중은 월요일 이전 결과</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당일 보정은 해당 날짜 이전 결과</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34개 비교 모델도 매일 보정</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같은 974개 날짜·상품으로 비교</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기본 모델·학습계수는 그대로 유지</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신규 공정 비교 1 / 3</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최종 모델은 이 35개 비교에서 손실 10,280, WAPE 25.82%로 가장 낮았습니다.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39" name=""/>
          <p:cNvGraphicFramePr/>
          <p:nvPr/>
        </p:nvGraphicFramePr>
        <p:xfrm>
          <a:off xmlns:a="http://schemas.openxmlformats.org/drawingml/2006/main" x="393668" y="1847850"/>
          <a:ext xmlns:a="http://schemas.openxmlformats.org/drawingml/2006/main" cx="11404568" cy="4152900"/>
        </p:xfrm>
        <a:graphic xmlns:a="http://schemas.openxmlformats.org/drawingml/2006/main">
          <a:graphicData uri="http://schemas.openxmlformats.org/drawingml/2006/table">
            <a:tbl>
              <a:tblPr firstRow="1" bandRow="0"/>
              <a:tblGrid>
                <a:gridCol w="762000"/>
                <a:gridCol w="5476875"/>
                <a:gridCol w="1857375"/>
                <a:gridCol w="1762125"/>
                <a:gridCol w="1546193"/>
              </a:tblGrid>
              <a:tr h="319454">
                <a:tc>
                  <a:txBody>
                    <a:bodyPr lIns="66675" tIns="47625" rIns="66675" bIns="38100">
                      <a:noAutofit/>
                    </a:bodyPr>
                    <a:lstStyle/>
                    <a:p>
                      <a:pPr algn="l"/>
                      <a:r>
                        <a:rPr sz="1500" b="1">
                          <a:solidFill>
                            <a:srgbClr val="0077B8"/>
                          </a:solidFill>
                          <a:latin typeface="Helvetica Neue"/>
                          <a:ea typeface="Malgun Gothic"/>
                          <a:cs typeface="Malgun Gothic"/>
                        </a:rPr>
                        <a:t>순위</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매일 보정 모델</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3:1 손실</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관측 수</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10,280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25.82%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히스토그램 · 작은 나무</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10,569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27.56%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선형 분위수 · 비정규화</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10,596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26.87%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히스토그램 · 중간 나무</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10,832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27.70%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CatBoost 분위수</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10,878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27.75%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LightGBM</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10,929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27.50%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Extra Trees</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10,941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27.41%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Elastic Net</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10,955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27.21%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Random Forest 분위수숲</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10,978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27.91%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Huber 회귀</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11,035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26.99%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Ridge 회귀</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11,045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27.45%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히스토그램 · 큰 나무</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11,096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28.29%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신규 공정 비교 2 / 3</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34개 후보도 최근 56일 오차를 매일 반영했습니다. 손실이 작은 순서입니다.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39" name=""/>
          <p:cNvGraphicFramePr/>
          <p:nvPr/>
        </p:nvGraphicFramePr>
        <p:xfrm>
          <a:off xmlns:a="http://schemas.openxmlformats.org/drawingml/2006/main" x="393668" y="1847850"/>
          <a:ext xmlns:a="http://schemas.openxmlformats.org/drawingml/2006/main" cx="11404568" cy="4152900"/>
        </p:xfrm>
        <a:graphic xmlns:a="http://schemas.openxmlformats.org/drawingml/2006/main">
          <a:graphicData uri="http://schemas.openxmlformats.org/drawingml/2006/table">
            <a:tbl>
              <a:tblPr firstRow="1" bandRow="0"/>
              <a:tblGrid>
                <a:gridCol w="762000"/>
                <a:gridCol w="5476875"/>
                <a:gridCol w="1857375"/>
                <a:gridCol w="1762125"/>
                <a:gridCol w="1546193"/>
              </a:tblGrid>
              <a:tr h="319454">
                <a:tc>
                  <a:txBody>
                    <a:bodyPr lIns="66675" tIns="47625" rIns="66675" bIns="38100">
                      <a:noAutofit/>
                    </a:bodyPr>
                    <a:lstStyle/>
                    <a:p>
                      <a:pPr algn="l"/>
                      <a:r>
                        <a:rPr sz="1500" b="1">
                          <a:solidFill>
                            <a:srgbClr val="0077B8"/>
                          </a:solidFill>
                          <a:latin typeface="Helvetica Neue"/>
                          <a:ea typeface="Malgun Gothic"/>
                          <a:cs typeface="Malgun Gothic"/>
                        </a:rPr>
                        <a:t>순위</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매일 보정 모델</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3:1 손실</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관측 수</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XGBoost</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11,101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27.47%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구조적 상태공간</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11,270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26.80%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Neural ODE</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11,608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29.58%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최근 7일 판매분포</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11,760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28.80%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SARIMA</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11,812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27.94%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OU 확률미분방정식</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11,826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28.62%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19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스플라인 Ridge</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11,836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30.11%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20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kNN</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11,889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28.96%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21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LSTM</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11,925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29.00%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22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SVR</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11,928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29.20%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23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비선형 3차 SDE</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11,990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28.87%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19454">
                <a:tc>
                  <a:txBody>
                    <a:bodyPr lIns="66675" tIns="47625" rIns="66675" bIns="38100">
                      <a:noAutofit/>
                    </a:bodyPr>
                    <a:lstStyle/>
                    <a:p>
                      <a:pPr algn="l"/>
                      <a:r>
                        <a:rPr sz="1500" b="0">
                          <a:solidFill>
                            <a:srgbClr val="000000"/>
                          </a:solidFill>
                          <a:latin typeface="Helvetica Neue"/>
                          <a:ea typeface="Malgun Gothic"/>
                          <a:cs typeface="Malgun Gothic"/>
                        </a:rPr>
                        <a:t>24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비선형 3차 ODE</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12,047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28.73%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신규 공정 비교 3 / 3</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34개 후보도 최근 56일 오차를 매일 반영했습니다. 손실이 작은 순서입니다.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39" name=""/>
          <p:cNvGraphicFramePr/>
          <p:nvPr/>
        </p:nvGraphicFramePr>
        <p:xfrm>
          <a:off xmlns:a="http://schemas.openxmlformats.org/drawingml/2006/main" x="393668" y="1847850"/>
          <a:ext xmlns:a="http://schemas.openxmlformats.org/drawingml/2006/main" cx="11404568" cy="4152900"/>
        </p:xfrm>
        <a:graphic xmlns:a="http://schemas.openxmlformats.org/drawingml/2006/main">
          <a:graphicData uri="http://schemas.openxmlformats.org/drawingml/2006/table">
            <a:tbl>
              <a:tblPr firstRow="1" bandRow="0"/>
              <a:tblGrid>
                <a:gridCol w="762000"/>
                <a:gridCol w="5476875"/>
                <a:gridCol w="1857375"/>
                <a:gridCol w="1762125"/>
                <a:gridCol w="1546193"/>
              </a:tblGrid>
              <a:tr h="346075">
                <a:tc>
                  <a:txBody>
                    <a:bodyPr lIns="66675" tIns="47625" rIns="66675" bIns="38100">
                      <a:noAutofit/>
                    </a:bodyPr>
                    <a:lstStyle/>
                    <a:p>
                      <a:pPr algn="l"/>
                      <a:r>
                        <a:rPr sz="1500" b="1">
                          <a:solidFill>
                            <a:srgbClr val="0077B8"/>
                          </a:solidFill>
                          <a:latin typeface="Helvetica Neue"/>
                          <a:ea typeface="Malgun Gothic"/>
                          <a:cs typeface="Malgun Gothic"/>
                        </a:rPr>
                        <a:t>순위</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매일 보정 모델</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3:1 손실</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500" b="1">
                          <a:solidFill>
                            <a:srgbClr val="0077B8"/>
                          </a:solidFill>
                          <a:latin typeface="Helvetica Neue"/>
                          <a:ea typeface="Malgun Gothic"/>
                          <a:cs typeface="Malgun Gothic"/>
                        </a:rPr>
                        <a:t>관측 수</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25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Poisson 회귀</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12,103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30.46%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26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MLP</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12,359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30.72%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27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Transformer</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12,462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30.67%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28</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TCN</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12,550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30.96%</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29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감쇠 추세 Holt</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12,577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28.70%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30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GRU</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12,605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30.34%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31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음이항 회귀</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12,792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31.00%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32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전주 같은 요일</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13,172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34.64%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33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전날 판매</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14,129</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34.37%</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34</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최근 8주 같은 요일</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14,502</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38.43%</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r h="346075">
                <a:tc>
                  <a:txBody>
                    <a:bodyPr lIns="66675" tIns="47625" rIns="66675" bIns="38100">
                      <a:noAutofit/>
                    </a:bodyPr>
                    <a:lstStyle/>
                    <a:p>
                      <a:pPr algn="l"/>
                      <a:r>
                        <a:rPr sz="1500" b="0">
                          <a:solidFill>
                            <a:srgbClr val="000000"/>
                          </a:solidFill>
                          <a:latin typeface="Helvetica Neue"/>
                          <a:ea typeface="Malgun Gothic"/>
                          <a:cs typeface="Malgun Gothic"/>
                        </a:rPr>
                        <a:t>35</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선형 분위수 · L1 정규화</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16,740</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40.61%</a:t>
                      </a:r>
                    </a:p>
                  </a:txBody>
                  <a:tcPr marL="91440" marR="91440" marT="45720" marB="45720" anchor="ctr">
                    <a:solidFill>
                      <a:srgbClr val="FFFFFF"/>
                    </a:solidFill>
                  </a:tcPr>
                </a:tc>
                <a:tc>
                  <a:txBody>
                    <a:bodyPr lIns="66675" tIns="47625" rIns="66675" bIns="38100">
                      <a:noAutofit/>
                    </a:bodyPr>
                    <a:lstStyle/>
                    <a:p>
                      <a:pPr algn="l"/>
                      <a:r>
                        <a:rPr sz="1500" b="0">
                          <a:solidFill>
                            <a:srgbClr val="000000"/>
                          </a:solidFill>
                          <a:latin typeface="Helvetica Neue"/>
                          <a:ea typeface="Malgun Gothic"/>
                          <a:cs typeface="Malgun Gothic"/>
                        </a:rPr>
                        <a:t>974</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동일 초기조건에서 갱신 효과</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초기 비중과 시험 전 56일 잔차 자료를 맞춘 뒤, 매주 비중과 매일 잔차 갱신을 각각 켰습니다.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0" name=""/>
          <p:cNvGraphicFramePr/>
          <p:nvPr/>
        </p:nvGraphicFramePr>
        <p:xfrm>
          <a:off xmlns:a="http://schemas.openxmlformats.org/drawingml/2006/main" x="393668" y="2190750"/>
          <a:ext xmlns:a="http://schemas.openxmlformats.org/drawingml/2006/main" cx="11404568" cy="2857500"/>
        </p:xfrm>
        <a:graphic xmlns:a="http://schemas.openxmlformats.org/drawingml/2006/main">
          <a:graphicData uri="http://schemas.openxmlformats.org/drawingml/2006/table">
            <a:tbl>
              <a:tblPr firstRow="1" bandRow="0"/>
              <a:tblGrid>
                <a:gridCol w="2476500"/>
                <a:gridCol w="2286000"/>
                <a:gridCol w="2286000"/>
                <a:gridCol w="2286000"/>
                <a:gridCol w="2070068"/>
              </a:tblGrid>
              <a:tr h="571500">
                <a:tc>
                  <a:txBody>
                    <a:bodyPr lIns="66675" tIns="47625" rIns="66675" bIns="38100">
                      <a:noAutofit/>
                    </a:bodyPr>
                    <a:lstStyle/>
                    <a:p>
                      <a:pPr algn="l"/>
                      <a:r>
                        <a:rPr sz="1800" b="1">
                          <a:solidFill>
                            <a:srgbClr val="0077B8"/>
                          </a:solidFill>
                          <a:latin typeface="Helvetica Neue"/>
                          <a:ea typeface="Malgun Gothic"/>
                          <a:cs typeface="Malgun Gothic"/>
                        </a:rPr>
                        <a:t>비중 갱신</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잔차 갱신</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3:1 손실</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800" b="1">
                          <a:solidFill>
                            <a:srgbClr val="0077B8"/>
                          </a:solidFill>
                          <a:latin typeface="Helvetica Neue"/>
                          <a:ea typeface="Malgun Gothic"/>
                          <a:cs typeface="Malgun Gothic"/>
                        </a:rPr>
                        <a:t>고정 대비</a:t>
                      </a:r>
                    </a:p>
                  </a:txBody>
                  <a:tcPr marL="91440" marR="91440" marT="45720" marB="45720" anchor="ctr">
                    <a:solidFill>
                      <a:srgbClr val="FFFFFF"/>
                    </a:solidFill>
                  </a:tcPr>
                </a:tc>
              </a:tr>
              <a:tr h="571500">
                <a:tc>
                  <a:txBody>
                    <a:bodyPr lIns="66675" tIns="47625" rIns="66675" bIns="38100">
                      <a:noAutofit/>
                    </a:bodyPr>
                    <a:lstStyle/>
                    <a:p>
                      <a:pPr algn="l"/>
                      <a:r>
                        <a:rPr sz="1800" b="0">
                          <a:solidFill>
                            <a:srgbClr val="000000"/>
                          </a:solidFill>
                          <a:latin typeface="Helvetica Neue"/>
                          <a:ea typeface="Malgun Gothic"/>
                          <a:cs typeface="Malgun Gothic"/>
                        </a:rPr>
                        <a:t>없음</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없음</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11,116</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28.44%</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0</a:t>
                      </a:r>
                    </a:p>
                  </a:txBody>
                  <a:tcPr marL="91440" marR="91440" marT="45720" marB="45720" anchor="ctr">
                    <a:solidFill>
                      <a:srgbClr val="FFFFFF"/>
                    </a:solidFill>
                  </a:tcPr>
                </a:tc>
              </a:tr>
              <a:tr h="571500">
                <a:tc>
                  <a:txBody>
                    <a:bodyPr lIns="66675" tIns="47625" rIns="66675" bIns="38100">
                      <a:noAutofit/>
                    </a:bodyPr>
                    <a:lstStyle/>
                    <a:p>
                      <a:pPr algn="l"/>
                      <a:r>
                        <a:rPr sz="1800" b="0">
                          <a:solidFill>
                            <a:srgbClr val="000000"/>
                          </a:solidFill>
                          <a:latin typeface="Helvetica Neue"/>
                          <a:ea typeface="Malgun Gothic"/>
                          <a:cs typeface="Malgun Gothic"/>
                        </a:rPr>
                        <a:t>없음</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매일</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10,284</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25.85%</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-832</a:t>
                      </a:r>
                    </a:p>
                  </a:txBody>
                  <a:tcPr marL="91440" marR="91440" marT="45720" marB="45720" anchor="ctr">
                    <a:solidFill>
                      <a:srgbClr val="FFFFFF"/>
                    </a:solidFill>
                  </a:tcPr>
                </a:tc>
              </a:tr>
              <a:tr h="571500">
                <a:tc>
                  <a:txBody>
                    <a:bodyPr lIns="66675" tIns="47625" rIns="66675" bIns="38100">
                      <a:noAutofit/>
                    </a:bodyPr>
                    <a:lstStyle/>
                    <a:p>
                      <a:pPr algn="l"/>
                      <a:r>
                        <a:rPr sz="1800" b="0">
                          <a:solidFill>
                            <a:srgbClr val="000000"/>
                          </a:solidFill>
                          <a:latin typeface="Helvetica Neue"/>
                          <a:ea typeface="Malgun Gothic"/>
                          <a:cs typeface="Malgun Gothic"/>
                        </a:rPr>
                        <a:t>매주</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없음</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10,905</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28.07%</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-211</a:t>
                      </a:r>
                    </a:p>
                  </a:txBody>
                  <a:tcPr marL="91440" marR="91440" marT="45720" marB="45720" anchor="ctr">
                    <a:solidFill>
                      <a:srgbClr val="FFFFFF"/>
                    </a:solidFill>
                  </a:tcPr>
                </a:tc>
              </a:tr>
              <a:tr h="571500">
                <a:tc>
                  <a:txBody>
                    <a:bodyPr lIns="66675" tIns="47625" rIns="66675" bIns="38100">
                      <a:noAutofit/>
                    </a:bodyPr>
                    <a:lstStyle/>
                    <a:p>
                      <a:pPr algn="l"/>
                      <a:r>
                        <a:rPr sz="1800" b="0">
                          <a:solidFill>
                            <a:srgbClr val="000000"/>
                          </a:solidFill>
                          <a:latin typeface="Helvetica Neue"/>
                          <a:ea typeface="Malgun Gothic"/>
                          <a:cs typeface="Malgun Gothic"/>
                        </a:rPr>
                        <a:t>매주</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매일</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10,280</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25.82%</a:t>
                      </a:r>
                    </a:p>
                  </a:txBody>
                  <a:tcPr marL="91440" marR="91440" marT="45720" marB="45720" anchor="ctr">
                    <a:solidFill>
                      <a:srgbClr val="FFFFFF"/>
                    </a:solidFill>
                  </a:tcPr>
                </a:tc>
                <a:tc>
                  <a:txBody>
                    <a:bodyPr lIns="66675" tIns="47625" rIns="66675" bIns="38100">
                      <a:noAutofit/>
                    </a:bodyPr>
                    <a:lstStyle/>
                    <a:p>
                      <a:pPr algn="l"/>
                      <a:r>
                        <a:rPr sz="1800" b="0">
                          <a:solidFill>
                            <a:srgbClr val="000000"/>
                          </a:solidFill>
                          <a:latin typeface="Helvetica Neue"/>
                          <a:ea typeface="Malgun Gothic"/>
                          <a:cs typeface="Malgun Gothic"/>
                        </a:rPr>
                        <a:t>-836</a:t>
                      </a:r>
                    </a:p>
                  </a:txBody>
                  <a:tcPr marL="91440" marR="91440" marT="45720" marB="45720"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AC3D5648-16E3-4A07-87BD-FD8D0039190A}"/>
              </a:ext>
            </a:extLst>
          </p:cNvPr>
          <p:cNvSpPr>
            <a:spLocks xmlns:a="http://schemas.openxmlformats.org/drawingml/2006/main" noGrp="1"/>
          </p:cNvSpPr>
          <p:nvPr/>
        </p:nvSpPr>
        <p:spPr>
          <a:xfrm xmlns:a="http://schemas.openxmlformats.org/drawingml/2006/main">
            <a:off x="400050" y="5381625"/>
            <a:ext cx="11382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매일 잔차 갱신만으로 손실 832 감소. 여기에 주간 비중 갱신을 더하면 추가 감소는 4입니다.</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추가 4의 7일 블록 95% 구간은 [−143, +127]로 0을 포함합니다.</a:t>
            </a:r>
          </a:p>
        </p:txBody>
      </p:sp>
    </p:spTree>
    <p:extLst>
      <p:ext uri="{BB962C8B-B14F-4D97-AF65-F5344CB8AC3E}">
        <p14:creationId xmlns:p14="http://schemas.microsoft.com/office/powerpoint/2010/main" val="32985487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기간별 손실 차이</a:t>
            </a: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9–10월</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관측 366개</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최종 3,965</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ET 4,140, 차상위 4,086</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7–8월</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관측 370개</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최종 5,189</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ET 5,610, 차상위 5,463</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11–12월</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관측 238개</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최종 1,126</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ET 1,191, 차상위 1,020</a:t>
            </a:r>
          </a:p>
        </p:txBody>
      </p:sp>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4" name="Chart"/>
          <p:cNvGraphicFramePr/>
          <p:nvPr/>
        </p:nvGraphicFramePr>
        <p:xfrm>
          <a:off xmlns:a="http://schemas.openxmlformats.org/drawingml/2006/main" x="385858" y="1571625"/>
          <a:ext xmlns:a="http://schemas.openxmlformats.org/drawingml/2006/main" cx="5534216" cy="4333875"/>
        </p:xfrm>
        <a:graphic xmlns:a="http://schemas.openxmlformats.org/drawingml/2006/main">
          <a:graphicData uri="http://schemas.openxmlformats.org/drawingml/2006/chart">
            <c:chart xmlns:r="http://schemas.openxmlformats.org/officeDocument/2006/relationships" xmlns:c="http://schemas.openxmlformats.org/drawingml/2006/chart" r:id="R64d153c47c2b4cab"/>
          </a:graphicData>
        </a:graphic>
      </p:graphicFrame>
    </p:spTree>
    <p:extLst>
      <p:ext uri="{BB962C8B-B14F-4D97-AF65-F5344CB8AC3E}">
        <p14:creationId xmlns:p14="http://schemas.microsoft.com/office/powerpoint/2010/main" val="31459752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상품별 손실 차이</a:t>
            </a: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상품별 효과는 다릅니다</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ET 대비 가장 불리한 상품 11</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손실 차이 26</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같은 상품 안에서 비교</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최종 모델의 손실이 ET보다 낮은 상품 5/6종</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단일 매장의 여섯 상품</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새 매장·새 상품에서의 재현 여부는 추가 검증이 필요합니다.</a:t>
            </a:r>
          </a:p>
        </p:txBody>
      </p:sp>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4" name="Chart"/>
          <p:cNvGraphicFramePr/>
          <p:nvPr/>
        </p:nvGraphicFramePr>
        <p:xfrm>
          <a:off xmlns:a="http://schemas.openxmlformats.org/drawingml/2006/main" x="385858" y="1571625"/>
          <a:ext xmlns:a="http://schemas.openxmlformats.org/drawingml/2006/main" cx="5534216" cy="4333875"/>
        </p:xfrm>
        <a:graphic xmlns:a="http://schemas.openxmlformats.org/drawingml/2006/main">
          <a:graphicData uri="http://schemas.openxmlformats.org/drawingml/2006/chart">
            <c:chart xmlns:r="http://schemas.openxmlformats.org/officeDocument/2006/relationships" xmlns:c="http://schemas.openxmlformats.org/drawingml/2006/chart" r:id="R60a1ba94b59c431a"/>
          </a:graphicData>
        </a:graphic>
      </p:graphicFrame>
    </p:spTree>
    <p:extLst>
      <p:ext uri="{BB962C8B-B14F-4D97-AF65-F5344CB8AC3E}">
        <p14:creationId xmlns:p14="http://schemas.microsoft.com/office/powerpoint/2010/main" val="31459752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A83FA91-883A-0168-8075-96CEB9DCA3C2}" type="slidenum">
              <a:t>15</a:t>
            </a:fld>
            <a:endParaRPr sz="1100"/>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9"/>
            <a:ext cx="7835900" cy="6973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날짜별 권고량과 실제 판매</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5"/>
            <a:ext cx="2133315" cy="9037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4350" b="0">
                <a:solidFill>
                  <a:srgbClr val="000000"/>
                </a:solidFill>
                <a:latin typeface="Helvetica Neue"/>
                <a:ea typeface="Malgun Gothic"/>
                <a:cs typeface="Malgun Gothic"/>
              </a:defRPr>
            </a:pPr>
            <a:r>
              <a:rPr sz="4350" b="0">
                <a:solidFill>
                  <a:srgbClr val="000000"/>
                </a:solidFill>
                <a:latin typeface="Helvetica Neue"/>
                <a:ea typeface="Malgun Gothic"/>
                <a:cs typeface="Malgun Gothic"/>
              </a:rPr>
              <a:t>204</a:t>
            </a: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최종 모델</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예시 구간 손실</a:t>
            </a: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5"/>
            <a:ext cx="2133315" cy="9037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4350" b="0">
                <a:solidFill>
                  <a:srgbClr val="000000"/>
                </a:solidFill>
                <a:latin typeface="Helvetica Neue"/>
                <a:ea typeface="Malgun Gothic"/>
                <a:cs typeface="Malgun Gothic"/>
              </a:defRPr>
            </a:pPr>
            <a:r>
              <a:rPr sz="4350" b="0">
                <a:solidFill>
                  <a:srgbClr val="000000"/>
                </a:solidFill>
                <a:latin typeface="Helvetica Neue"/>
                <a:ea typeface="Malgun Gothic"/>
                <a:cs typeface="Malgun Gothic"/>
              </a:rPr>
              <a:t>221</a:t>
            </a: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매일 보정 ET</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예시 구간 손실</a:t>
            </a: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상품 11, 첫 평가기간의 첫 3주</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7월 1~21일을 날짜 기준으로 선택했습니다. 실제 판매가 권고보다 크면 부족으로 계산합니다.</a:t>
            </a:r>
          </a:p>
        </p:txBody>
      </p:sp>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5" name="Chart"/>
          <p:cNvGraphicFramePr/>
          <p:nvPr/>
        </p:nvGraphicFramePr>
        <p:xfrm>
          <a:off xmlns:a="http://schemas.openxmlformats.org/drawingml/2006/main" x="385858" y="1428750"/>
          <a:ext xmlns:a="http://schemas.openxmlformats.org/drawingml/2006/main" cx="5534216" cy="4667250"/>
        </p:xfrm>
        <a:graphic xmlns:a="http://schemas.openxmlformats.org/drawingml/2006/main">
          <a:graphicData uri="http://schemas.openxmlformats.org/drawingml/2006/chart">
            <c:chart xmlns:r="http://schemas.openxmlformats.org/officeDocument/2006/relationships" xmlns:c="http://schemas.openxmlformats.org/drawingml/2006/chart" r:id="R26039317e0584a41"/>
          </a:graphicData>
        </a:graphic>
      </p:graphicFrame>
    </p:spTree>
    <p:extLst>
      <p:ext uri="{BB962C8B-B14F-4D97-AF65-F5344CB8AC3E}">
        <p14:creationId xmlns:p14="http://schemas.microsoft.com/office/powerpoint/2010/main" val="377680918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손실 차이의 불확실성</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차이 = 최종 모델 − 비교 모델. 음수면 최종 모델이 낮습니다. 차상위와의 구간은 0을 포함합니다.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0" name=""/>
          <p:cNvGraphicFramePr/>
          <p:nvPr/>
        </p:nvGraphicFramePr>
        <p:xfrm>
          <a:off xmlns:a="http://schemas.openxmlformats.org/drawingml/2006/main" x="393668" y="2247900"/>
          <a:ext xmlns:a="http://schemas.openxmlformats.org/drawingml/2006/main" cx="11404568" cy="2886075"/>
        </p:xfrm>
        <a:graphic xmlns:a="http://schemas.openxmlformats.org/drawingml/2006/main">
          <a:graphicData uri="http://schemas.openxmlformats.org/drawingml/2006/table">
            <a:tbl>
              <a:tblPr firstRow="1" bandRow="0"/>
              <a:tblGrid>
                <a:gridCol w="3352800"/>
                <a:gridCol w="1619250"/>
                <a:gridCol w="3219450"/>
                <a:gridCol w="3213068"/>
              </a:tblGrid>
              <a:tr h="577215">
                <a:tc>
                  <a:txBody>
                    <a:bodyPr lIns="66675" tIns="47625" rIns="66675" bIns="38100">
                      <a:noAutofit/>
                    </a:bodyPr>
                    <a:lstStyle/>
                    <a:p>
                      <a:pPr algn="l"/>
                      <a:r>
                        <a:rPr sz="1725" b="1">
                          <a:solidFill>
                            <a:srgbClr val="0077B8"/>
                          </a:solidFill>
                          <a:latin typeface="Helvetica Neue"/>
                          <a:ea typeface="Malgun Gothic"/>
                          <a:cs typeface="Malgun Gothic"/>
                        </a:rPr>
                        <a:t>비교 대상</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손실 차이</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7일 블록 95% 구간</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14일 블록 95% 구간</a:t>
                      </a:r>
                    </a:p>
                  </a:txBody>
                  <a:tcPr marL="91440" marR="91440" marT="45720" marB="45720" anchor="ctr">
                    <a:solidFill>
                      <a:srgbClr val="FFFFFF"/>
                    </a:solidFill>
                  </a:tcPr>
                </a:tc>
              </a:tr>
              <a:tr h="577215">
                <a:tc>
                  <a:txBody>
                    <a:bodyPr lIns="66675" tIns="47625" rIns="66675" bIns="38100">
                      <a:noAutofit/>
                    </a:bodyPr>
                    <a:lstStyle/>
                    <a:p>
                      <a:pPr algn="l"/>
                      <a:r>
                        <a:rPr sz="1725" b="0">
                          <a:solidFill>
                            <a:srgbClr val="000000"/>
                          </a:solidFill>
                          <a:latin typeface="Helvetica Neue"/>
                          <a:ea typeface="Malgun Gothic"/>
                          <a:cs typeface="Malgun Gothic"/>
                        </a:rPr>
                        <a:t>고정 보정 최종</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-2,201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[-2,966, -1,457]</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[-2,989, -1,288]</a:t>
                      </a:r>
                    </a:p>
                  </a:txBody>
                  <a:tcPr marL="91440" marR="91440" marT="45720" marB="45720" anchor="ctr">
                    <a:solidFill>
                      <a:srgbClr val="FFFFFF"/>
                    </a:solidFill>
                  </a:tcPr>
                </a:tc>
              </a:tr>
              <a:tr h="577215">
                <a:tc>
                  <a:txBody>
                    <a:bodyPr lIns="66675" tIns="47625" rIns="66675" bIns="38100">
                      <a:noAutofit/>
                    </a:bodyPr>
                    <a:lstStyle/>
                    <a:p>
                      <a:pPr algn="l"/>
                      <a:r>
                        <a:rPr sz="1725" b="0">
                          <a:solidFill>
                            <a:srgbClr val="000000"/>
                          </a:solidFill>
                          <a:latin typeface="Helvetica Neue"/>
                          <a:ea typeface="Malgun Gothic"/>
                          <a:cs typeface="Malgun Gothic"/>
                        </a:rPr>
                        <a:t>매일 보정 ET</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-661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[-1,032, -317]</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[-1,060, -302]</a:t>
                      </a:r>
                    </a:p>
                  </a:txBody>
                  <a:tcPr marL="91440" marR="91440" marT="45720" marB="45720" anchor="ctr">
                    <a:solidFill>
                      <a:srgbClr val="FFFFFF"/>
                    </a:solidFill>
                  </a:tcPr>
                </a:tc>
              </a:tr>
              <a:tr h="577215">
                <a:tc>
                  <a:txBody>
                    <a:bodyPr lIns="66675" tIns="47625" rIns="66675" bIns="38100">
                      <a:noAutofit/>
                    </a:bodyPr>
                    <a:lstStyle/>
                    <a:p>
                      <a:pPr algn="l"/>
                      <a:r>
                        <a:rPr sz="1725" b="0">
                          <a:solidFill>
                            <a:srgbClr val="000000"/>
                          </a:solidFill>
                          <a:latin typeface="Helvetica Neue"/>
                          <a:ea typeface="Malgun Gothic"/>
                          <a:cs typeface="Malgun Gothic"/>
                        </a:rPr>
                        <a:t>고정 선형 분위수</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-516</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[-974, -92]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[-1,023, 19]</a:t>
                      </a:r>
                    </a:p>
                  </a:txBody>
                  <a:tcPr marL="91440" marR="91440" marT="45720" marB="45720" anchor="ctr">
                    <a:solidFill>
                      <a:srgbClr val="FFFFFF"/>
                    </a:solidFill>
                  </a:tcPr>
                </a:tc>
              </a:tr>
              <a:tr h="577215">
                <a:tc>
                  <a:txBody>
                    <a:bodyPr lIns="66675" tIns="47625" rIns="66675" bIns="38100">
                      <a:noAutofit/>
                    </a:bodyPr>
                    <a:lstStyle/>
                    <a:p>
                      <a:pPr algn="l"/>
                      <a:r>
                        <a:rPr sz="1725" b="0">
                          <a:solidFill>
                            <a:srgbClr val="000000"/>
                          </a:solidFill>
                          <a:latin typeface="Helvetica Neue"/>
                          <a:ea typeface="Malgun Gothic"/>
                          <a:cs typeface="Malgun Gothic"/>
                        </a:rPr>
                        <a:t>매일 보정 차상위</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-289</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[-739, 157]</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[-784, 146]</a:t>
                      </a:r>
                    </a:p>
                  </a:txBody>
                  <a:tcPr marL="91440" marR="91440" marT="45720" marB="45720"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6CB554E4-2ACF-4E4D-AA3F-DF5AD1ED2835}"/>
              </a:ext>
            </a:extLst>
          </p:cNvPr>
          <p:cNvSpPr>
            <a:spLocks xmlns:a="http://schemas.openxmlformats.org/drawingml/2006/main" noGrp="1"/>
          </p:cNvSpPr>
          <p:nvPr/>
        </p:nvSpPr>
        <p:spPr>
          <a:xfrm xmlns:a="http://schemas.openxmlformats.org/drawingml/2006/main">
            <a:off x="400050" y="5448300"/>
            <a:ext cx="11382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각 기간에서 날짜 단위 블록을 1,000회 재표집했습니다. 상품은 같은 날짜끼리 함께 유지했습니다.</a:t>
            </a:r>
          </a:p>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다수 모델을 비교하고 같은 데이터를 재사용한 탐색 결과이며, 새 매장에 대한 보장이 없습니다.</a:t>
            </a:r>
          </a:p>
        </p:txBody>
      </p:sp>
    </p:spTree>
    <p:extLst>
      <p:ext uri="{BB962C8B-B14F-4D97-AF65-F5344CB8AC3E}">
        <p14:creationId xmlns:p14="http://schemas.microsoft.com/office/powerpoint/2010/main" val="32985487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관측 판매와 실제 수요</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품절 시간·재고·생산·폐기량을 함께 수집</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판매에 가려진 수요를 별도 확인</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90F7333B-44AC-F7E9-D49D-FE92F45E0477}" type="slidenum">
              <a:t>17</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독립 검증 자료</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새 기간과 다른 매장을 사전에 지정</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비중·비용·평가규칙을 먼저 고정</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적용 한계와 다음 검증</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매장 비용과 운영 제약</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상품별 마진·원가·잔존가치 반영</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생산 상한·배치·재고를 포함해 평가</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모델 선택 기준</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WAPE와 부족·초과를 함께 확인</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단순 모델보다 나은지 지속 비교</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B1C6C81E-38B9-7560-621D-5A151A79DF9B}" type="slidenum">
              <a:t>18</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출처와 재현 자료</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hlinkClick xmlns:r="http://schemas.openxmlformats.org/officeDocument/2006/relationships" r:id="R7ecfa34921db4506"/>
              </a:rPr>
              <a:t>github.com/lleisner/bakery_sales_forecasting</a:t>
            </a:r>
          </a:p>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고정 커밋 d4c8fb84…  ·  시간대 순판매 보고서</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독일 원자료</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hlinkClick xmlns:r="http://schemas.openxmlformats.org/officeDocument/2006/relationships" r:id="Ra0cc0b8156104e81"/>
              </a:rPr>
              <a:t>naeil-bbang.vercel.app/research/rolling/</a:t>
            </a:r>
          </a:p>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analysis.json, predictions.csv, methodology.md</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새 실험 기록</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잔반 AI 조사 보존본 81턴, 메시지 152개</a:t>
            </a:r>
          </a:p>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원예측·원체크포인트 미확보</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과거 대화</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Quantile Regression Forests, Meinshausen (2006)</a:t>
            </a:r>
          </a:p>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hlinkClick xmlns:r="http://schemas.openxmlformats.org/officeDocument/2006/relationships" r:id="Rd2f6064a20b14540"/>
              </a:rPr>
              <a:t>jmlr.org/papers/v7/meinshausen06a.html</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모델 방법</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확인 기준</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2026년 9월 14일</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과거 대화의 보고값과</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신규 재계산값을 분리했습니다.</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원자료의 단위는</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관측 순판매 개수입니다.</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2026-09-14T07:45:22.8480000Z</dcterms:created>
  <dcterms:modified xsi:type="dcterms:W3CDTF">2026-09-14T07:45:22.8480000Z</dcterms:modified>
</coreProperties>
</file>