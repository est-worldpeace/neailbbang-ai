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64256d9ecc54c4d" /><Relationship Type="http://schemas.openxmlformats.org/officeDocument/2006/relationships/extended-properties" Target="/docProps/app.xml" Id="R2c646c6c259f4d41" /><Relationship Type="http://schemas.openxmlformats.org/officeDocument/2006/relationships/officeDocument" Target="/ppt/presentation.xml" Id="R64a067528f7f450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6b6068cb40d4fbc"/>
  </p:sldMasterIdLst>
  <p:notesMasterIdLst>
    <p:notesMasterId xmlns:r="http://schemas.openxmlformats.org/officeDocument/2006/relationships" r:id="Rdce3a3e6f74c430e"/>
  </p:notesMasterIdLst>
  <p:sldIdLst>
    <p:sldId xmlns:r="http://schemas.openxmlformats.org/officeDocument/2006/relationships" id="256" r:id="Rb3feae6cbc344dce"/>
    <p:sldId xmlns:r="http://schemas.openxmlformats.org/officeDocument/2006/relationships" id="257" r:id="Ra74b2e4734294aa4"/>
    <p:sldId xmlns:r="http://schemas.openxmlformats.org/officeDocument/2006/relationships" id="258" r:id="Ra22cff0ebcdb4981"/>
    <p:sldId xmlns:r="http://schemas.openxmlformats.org/officeDocument/2006/relationships" id="259" r:id="R04e0016fff9a486e"/>
    <p:sldId xmlns:r="http://schemas.openxmlformats.org/officeDocument/2006/relationships" id="260" r:id="R2b284c2539fa4724"/>
    <p:sldId xmlns:r="http://schemas.openxmlformats.org/officeDocument/2006/relationships" id="261" r:id="Red1b0c81addc4073"/>
    <p:sldId xmlns:r="http://schemas.openxmlformats.org/officeDocument/2006/relationships" id="262" r:id="Rc800cd8983bd4730"/>
    <p:sldId xmlns:r="http://schemas.openxmlformats.org/officeDocument/2006/relationships" id="263" r:id="Rfe34de7802e5424e"/>
    <p:sldId xmlns:r="http://schemas.openxmlformats.org/officeDocument/2006/relationships" id="264" r:id="Rdf0780090b04427d"/>
    <p:sldId xmlns:r="http://schemas.openxmlformats.org/officeDocument/2006/relationships" id="265" r:id="R7de5a390b2494443"/>
    <p:sldId xmlns:r="http://schemas.openxmlformats.org/officeDocument/2006/relationships" id="266" r:id="R7e0378aba6dc49b6"/>
    <p:sldId xmlns:r="http://schemas.openxmlformats.org/officeDocument/2006/relationships" id="267" r:id="R474ca1f64cdb4320"/>
    <p:sldId xmlns:r="http://schemas.openxmlformats.org/officeDocument/2006/relationships" id="268" r:id="R68b6708dff954cce"/>
    <p:sldId xmlns:r="http://schemas.openxmlformats.org/officeDocument/2006/relationships" id="269" r:id="R883deb043c7f413d"/>
  </p:sldIdLst>
  <p:sldSz cx="12192000" cy="6858000"/>
  <p:notesSz cx="6858000" cy="9144000"/>
  <p:embeddedFontLst>
    <p:embeddedFont>
      <p:font typeface="Inter"/>
      <p:regular xmlns:r="http://schemas.openxmlformats.org/officeDocument/2006/relationships" r:id="R9168a72512964ca7"/>
      <p:bold xmlns:r="http://schemas.openxmlformats.org/officeDocument/2006/relationships" r:id="R3bc450ec50e74e39"/>
    </p:embeddedFont>
    <p:embeddedFont>
      <p:font typeface="Inter Medium"/>
      <p:regular xmlns:r="http://schemas.openxmlformats.org/officeDocument/2006/relationships" r:id="Rd1075e1fce0246f4"/>
    </p:embeddedFont>
    <p:embeddedFont>
      <p:font typeface="Inter SemiBold"/>
      <p:regular xmlns:r="http://schemas.openxmlformats.org/officeDocument/2006/relationships" r:id="Rb67b677a56e64dfb"/>
      <p:bold xmlns:r="http://schemas.openxmlformats.org/officeDocument/2006/relationships" r:id="R1879921c1f9b47ae"/>
    </p:embeddedFont>
    <p:embeddedFont>
      <p:font typeface="OpenAI Sans"/>
      <p:regular xmlns:r="http://schemas.openxmlformats.org/officeDocument/2006/relationships" r:id="Rf9a76c027ab44002"/>
      <p:bold xmlns:r="http://schemas.openxmlformats.org/officeDocument/2006/relationships" r:id="Rc0fa21acce0441b7"/>
      <p:italic xmlns:r="http://schemas.openxmlformats.org/officeDocument/2006/relationships" r:id="R3a936ab2856345fd"/>
      <p:boldItalic xmlns:r="http://schemas.openxmlformats.org/officeDocument/2006/relationships" r:id="R85e1a4ded7dc4a7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e5bc865586a4e6a" /><Relationship Type="http://schemas.openxmlformats.org/officeDocument/2006/relationships/slideMaster" Target="/ppt/slideMasters/slideMaster1.xml" Id="R86b6068cb40d4fbc" /><Relationship Type="http://schemas.openxmlformats.org/officeDocument/2006/relationships/notesMaster" Target="/ppt/notesMasters/notesMaster1.xml" Id="Rdce3a3e6f74c430e" /><Relationship Type="http://schemas.openxmlformats.org/officeDocument/2006/relationships/presProps" Target="/ppt/presProps.xml" Id="Rfb44be0bb0cc45e0" /><Relationship Type="http://schemas.openxmlformats.org/officeDocument/2006/relationships/viewProps" Target="/ppt/viewProps.xml" Id="R38b0f581e1554b5c" /><Relationship Type="http://schemas.openxmlformats.org/officeDocument/2006/relationships/tableStyles" Target="/ppt/tableStyles.xml" Id="Rabada720855c4ad2" /><Relationship Type="http://schemas.openxmlformats.org/officeDocument/2006/relationships/font" Target="/ppt/fonts/font.dat" Id="R9168a72512964ca7" /><Relationship Type="http://schemas.openxmlformats.org/officeDocument/2006/relationships/font" Target="/ppt/fonts/font2.dat" Id="R3bc450ec50e74e39" /><Relationship Type="http://schemas.openxmlformats.org/officeDocument/2006/relationships/font" Target="/ppt/fonts/font3.dat" Id="Rd1075e1fce0246f4" /><Relationship Type="http://schemas.openxmlformats.org/officeDocument/2006/relationships/font" Target="/ppt/fonts/font4.dat" Id="Rb67b677a56e64dfb" /><Relationship Type="http://schemas.openxmlformats.org/officeDocument/2006/relationships/font" Target="/ppt/fonts/font5.dat" Id="R1879921c1f9b47ae" /><Relationship Type="http://schemas.openxmlformats.org/officeDocument/2006/relationships/font" Target="/ppt/fonts/font6.dat" Id="Rf9a76c027ab44002" /><Relationship Type="http://schemas.openxmlformats.org/officeDocument/2006/relationships/font" Target="/ppt/fonts/font7.dat" Id="Rc0fa21acce0441b7" /><Relationship Type="http://schemas.openxmlformats.org/officeDocument/2006/relationships/font" Target="/ppt/fonts/font8.dat" Id="R3a936ab2856345fd" /><Relationship Type="http://schemas.openxmlformats.org/officeDocument/2006/relationships/font" Target="/ppt/fonts/font9.dat" Id="R85e1a4ded7dc4a75" /><Relationship Type="http://schemas.openxmlformats.org/officeDocument/2006/relationships/slide" Target="/ppt/slides/slide1.xml" Id="Rb3feae6cbc344dce" /><Relationship Type="http://schemas.openxmlformats.org/officeDocument/2006/relationships/slide" Target="/ppt/slides/slide2.xml" Id="Ra74b2e4734294aa4" /><Relationship Type="http://schemas.openxmlformats.org/officeDocument/2006/relationships/slide" Target="/ppt/slides/slide3.xml" Id="Ra22cff0ebcdb4981" /><Relationship Type="http://schemas.openxmlformats.org/officeDocument/2006/relationships/slide" Target="/ppt/slides/slide4.xml" Id="R04e0016fff9a486e" /><Relationship Type="http://schemas.openxmlformats.org/officeDocument/2006/relationships/slide" Target="/ppt/slides/slide5.xml" Id="R2b284c2539fa4724" /><Relationship Type="http://schemas.openxmlformats.org/officeDocument/2006/relationships/slide" Target="/ppt/slides/slide6.xml" Id="Red1b0c81addc4073" /><Relationship Type="http://schemas.openxmlformats.org/officeDocument/2006/relationships/slide" Target="/ppt/slides/slide7.xml" Id="Rc800cd8983bd4730" /><Relationship Type="http://schemas.openxmlformats.org/officeDocument/2006/relationships/slide" Target="/ppt/slides/slide8.xml" Id="Rfe34de7802e5424e" /><Relationship Type="http://schemas.openxmlformats.org/officeDocument/2006/relationships/slide" Target="/ppt/slides/slide9.xml" Id="Rdf0780090b04427d" /><Relationship Type="http://schemas.openxmlformats.org/officeDocument/2006/relationships/slide" Target="/ppt/slides/slide10.xml" Id="R7de5a390b2494443" /><Relationship Type="http://schemas.openxmlformats.org/officeDocument/2006/relationships/slide" Target="/ppt/slides/slide11.xml" Id="R7e0378aba6dc49b6" /><Relationship Type="http://schemas.openxmlformats.org/officeDocument/2006/relationships/slide" Target="/ppt/slides/slide12.xml" Id="R474ca1f64cdb4320" /><Relationship Type="http://schemas.openxmlformats.org/officeDocument/2006/relationships/slide" Target="/ppt/slides/slide13.xml" Id="R68b6708dff954cce" /><Relationship Type="http://schemas.openxmlformats.org/officeDocument/2006/relationships/slide" Target="/ppt/slides/slide14.xml" Id="R883deb043c7f41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ae627e2b3840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29a21c0b974325" /><Relationship Type="http://schemas.openxmlformats.org/officeDocument/2006/relationships/notesMaster" Target="/ppt/notesMasters/notesMaster1.xml" Id="Re9db786132554a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a6e7e4df1d4ced" /><Relationship Type="http://schemas.openxmlformats.org/officeDocument/2006/relationships/notesMaster" Target="/ppt/notesMasters/notesMaster1.xml" Id="R2179ff2dcf7641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aa0922c4484789" /><Relationship Type="http://schemas.openxmlformats.org/officeDocument/2006/relationships/notesMaster" Target="/ppt/notesMasters/notesMaster1.xml" Id="R959e0d4486064c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e6802e4f154745" /><Relationship Type="http://schemas.openxmlformats.org/officeDocument/2006/relationships/notesMaster" Target="/ppt/notesMasters/notesMaster1.xml" Id="R73a99802ce5041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1053c911b74d07" /><Relationship Type="http://schemas.openxmlformats.org/officeDocument/2006/relationships/notesMaster" Target="/ppt/notesMasters/notesMaster1.xml" Id="R05f96f6a27c549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49531678e4a85" /><Relationship Type="http://schemas.openxmlformats.org/officeDocument/2006/relationships/notesMaster" Target="/ppt/notesMasters/notesMaster1.xml" Id="R5e170cbf01da47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5393a5faa54b11" /><Relationship Type="http://schemas.openxmlformats.org/officeDocument/2006/relationships/notesMaster" Target="/ppt/notesMasters/notesMaster1.xml" Id="Ra7eb60e5b99445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98f8701b15484b" /><Relationship Type="http://schemas.openxmlformats.org/officeDocument/2006/relationships/notesMaster" Target="/ppt/notesMasters/notesMaster1.xml" Id="R8019b5f4a1e24f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988ed88e484395" /><Relationship Type="http://schemas.openxmlformats.org/officeDocument/2006/relationships/notesMaster" Target="/ppt/notesMasters/notesMaster1.xml" Id="Rf5fd929c49ef45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0468514f0743fc" /><Relationship Type="http://schemas.openxmlformats.org/officeDocument/2006/relationships/notesMaster" Target="/ppt/notesMasters/notesMaster1.xml" Id="R6e52533d5c164c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487fd2ad3847aa" /><Relationship Type="http://schemas.openxmlformats.org/officeDocument/2006/relationships/notesMaster" Target="/ppt/notesMasters/notesMaster1.xml" Id="R2e08355e1b9640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94766c832a4683" /><Relationship Type="http://schemas.openxmlformats.org/officeDocument/2006/relationships/notesMaster" Target="/ppt/notesMasters/notesMaster1.xml" Id="R2fd6ae2cc89544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758b8605924538" /><Relationship Type="http://schemas.openxmlformats.org/officeDocument/2006/relationships/notesMaster" Target="/ppt/notesMasters/notesMaster1.xml" Id="R1925520c116b49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030928d6604b8b" /><Relationship Type="http://schemas.openxmlformats.org/officeDocument/2006/relationships/notesMaster" Target="/ppt/notesMasters/notesMaster1.xml" Id="Rf9590c0afd9340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같은974개 날짜·상품 관측에서 최종 모델, Chronos 원예측, Chronos 매일56일 보정을 비교한다. 데이터 재사용 후향 비교이며 어느 모델의 일반적 우월성을 보장하지 않는다.</a:t>
            </a:r>
            <a:endParaRPr/>
          </a:p>
          <a:p xmlns:a="http://schemas.openxmlformats.org/drawingml/2006/main">
            <a:r>
              <a:t/>
            </a:r>
            <a:endParaRPr/>
          </a:p>
          <a:p xmlns:a="http://schemas.openxmlformats.org/drawingml/2006/main">
            <a:r>
              <a:t>출처 확인 기준: 2026-09-15</a:t>
            </a:r>
            <a:endParaRPr/>
          </a:p>
          <a:p xmlns:a="http://schemas.openxmlformats.org/drawingml/2006/main">
            <a:r>
              <a:t>https://naeil-bbang.vercel.app/research/chronos/analysis.json</a:t>
            </a:r>
            <a:endParaRPr/>
          </a:p>
          <a:p xmlns:a="http://schemas.openxmlformats.org/drawingml/2006/main">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Small은 모델 카드상48M 파라미터이며 T5 계열 encoder-decoder가 과거를 패치로 처리하고 미래 분위수를 직접 예측한다. Zero-shot은 이번 작업에서 빵집 자료로 신경망 가중치를 학습하지 않았다는 뜻이며 사전학습 미포함 증명은 아니다.</a:t>
            </a:r>
          </a:p>
          <a:p xmlns:a="http://schemas.openxmlformats.org/drawingml/2006/main">
            <a:r>
              <a:t>https://huggingface.co/amazon/chronos-bolt-small</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원자료의 시간대 순판매량을 일자·상품별 합산했다. 선택6종3505일자상품 행, 평가974행이다. 결측 날짜는0판매로 간주하지 않는다.</a:t>
            </a:r>
          </a:p>
          <a:p xmlns:a="http://schemas.openxmlformats.org/drawingml/2006/main">
            <a:r>
              <a:t>https://github.com/lleisner/bakery_sales_forecasting/tree/d4c8fb84140964a122bbbd851e712b1f11ef3a69/data/raw_sources/sales</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Chronos 입력은 직전512달력일, 예측길이1이다. 결측은NaN으로 위치를 보존하고 당일 이후 자료를 차단했다. 체크포인트의 지원 문맥한도2048과 이번선택512를 구분한다. P75는 공식predict_quantiles 보간 반환값이다. 현지미세조정 없음. 모델revision 772f3d25d38aec6d914c8949dab4462e2d46f5d8</a:t>
            </a:r>
            <a:endParaRPr/>
          </a:p>
          <a:p xmlns:a="http://schemas.openxmlformats.org/drawingml/2006/main">
            <a:pPr marL="0" lvl="0" indent="0" algn="l">
              <a:spcBef>
                <a:spcPts val="0"/>
              </a:spcBef>
              <a:spcAft>
                <a:spcPts val="0"/>
              </a:spcAft>
              <a:buNone/>
            </a:pPr>
            <a:r>
              <a:t>https://huggingface.co/amazon/chronos-bolt-small</a:t>
            </a:r>
            <a:endParaRPr/>
          </a:p>
          <a:p xmlns:a="http://schemas.openxmlformats.org/drawingml/2006/main">
            <a:pPr marL="0" lvl="0" indent="0" algn="l">
              <a:spcBef>
                <a:spcPts val="0"/>
              </a:spcBef>
              <a:spcAft>
                <a:spcPts val="0"/>
              </a:spcAft>
              <a:buNone/>
            </a:pPr>
            <a:r>
              <a:t>https://huggingface.co/amazon/chronos-bolt-small/blob/772f3d25d38aec6d914c8949dab4462e2d46f5d8/config.json</a:t>
            </a:r>
            <a:endParaRPr/>
          </a:p>
          <a:p xmlns:a="http://schemas.openxmlformats.org/drawingml/2006/main">
            <a:pPr marL="0" lvl="0" indent="0" algn="l">
              <a:spcBef>
                <a:spcPts val="0"/>
              </a:spcBef>
              <a:spcAft>
                <a:spcPts val="0"/>
              </a:spcAft>
              <a:buNone/>
            </a:pPr>
            <a:r>
              <a:t>https://github.com/amazon-science/chronos-forecasting/blob/4dbf163c2734c089cdf7da2b86fde48862ff9c6f/src/chronos/chronos_bolt.py</a:t>
            </a:r>
            <a:endParaRPr/>
          </a:p>
          <a:p xmlns:a="http://schemas.openxmlformats.org/drawingml/2006/main">
            <a:pPr marL="0" lvl="0" indent="0" algn="l">
              <a:spcBef>
                <a:spcPts val="0"/>
              </a:spcBef>
              <a:spcAft>
                <a:spcPts val="0"/>
              </a:spcAft>
              <a:buNone/>
            </a:pPr>
            <a:r>
              <a:t>https://pypi.org/project/chronos-forecasting/2.3.2/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WAPE와MAE는P50의 오차다. 생산권고는P75를1e-9근정수오차허용 후올림한다. 3:1은부족비용대초과비용의가정이며 화폐금액이 아니다. 재고0,배치1,생산상한없음. 실제품절·재고·폐기관측은없다.</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모든 행의 평가 키와 실제 판매 합계가 같다. 기존 34개 후보 중 작은 히스토그램과 ET는 맥락 비교다. Chronos 두 방식은 같은 기본 모델의 서로 다른 후처리다. 순위는 기존 35개와 각 Chronos 방식 하나를 별도로 비교하여 분모가36이다. 원예측 WAPE는2위, 손실은14위이며 지표의 목표가다르다.</a:t>
            </a:r>
            <a:endParaRPr/>
          </a:p>
          <a:p xmlns:a="http://schemas.openxmlformats.org/drawingml/2006/main">
            <a:pPr marL="0" lvl="0" indent="0" algn="l">
              <a:spcBef>
                <a:spcPts val="0"/>
              </a:spcBef>
              <a:spcAft>
                <a:spcPts val="0"/>
              </a:spcAft>
              <a:buNone/>
            </a:pPr>
            <a:r>
              <a:t>https://naeil-bbang.vercel.app/research/chronos/verification.json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차이부호는Chronos매일보정-최종이다. 손실차이는초과차이+3배부족차이로분해한다. 수량의모의손실이며실폐기절감이나이익으로해석하지않는다.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각기간안에서같은관측키로비교한다. 기간별표본수와판매규모가다르므로기간간원손실크기만으로성능을판단하지않는다.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상품코드: 11 Mohnbrötchen, 12 Sesambrötchen, 13 Roggenpärchen, 21 Dinkelvollkornbrötch, 35 Walnussbrötchen, 82 Schokocroissant. 단일매장기존6종의결과이며새상품·새매장으로일반화하지않는다.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사례선택규칙은상품코드11,첫평가일로부터21달력일이다. 결과도착전선택했다. 최종권고와Chronos두권고량은정수P75다. 전체판단은974건전체를사용한다.</a:t>
            </a:r>
          </a:p>
          <a:p xmlns:a="http://schemas.openxmlformats.org/drawingml/2006/main">
            <a:r>
              <a:t>https://naeil-bbang.vercel.app/research/chronos/predictions.csv</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1000 paired circular calendar-day block resamples within each fold, all products kept together; lengths7 and14days; fixed seed20260915+blockDays; delta=Chronos-reference; percentile95% intervals. 95%는블록부트스트랩백분위구간이다. 동일자료의반복탐색·다중비교를보정한확증적추론은아니다.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Chronos신경망가중치를고정하고동일한원예측에과거56일잔차분위수보정을적용했다. 최종모델의FFT유사도가중잔차보정과알고리즘이같지않다. 설정은이번Chronos추론전에고정했다.</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결론은 공개 단일 매장 자료의 후향 모의 평가에 한정한다. Chronos 매일 보정은11~12월 손실1089로 최종1126보다37 낮고, 상품82도1360으로 최종1380보다20 낮다. 모든 기간·상품에 최종 모델이 우세하지 않다. Chronos-Bolt 공개일은2024-11-26이며2023년 의사결정 당시 사용 가능했다는 뜻이 아니다. 사전학습 자료와 원판매 기록의 중복 여부를 독립적으로 확인하지 못했다.</a:t>
            </a:r>
          </a:p>
          <a:p xmlns:a="http://schemas.openxmlformats.org/drawingml/2006/main">
            <a:r>
              <a:t>https://github.com/amazon-science/chronos-forecasting</a:t>
            </a:r>
          </a:p>
          <a:p xmlns:a="http://schemas.openxmlformats.org/drawingml/2006/main">
            <a:r>
              <a:t/>
            </a:r>
          </a:p>
          <a:p xmlns:a="http://schemas.openxmlformats.org/drawingml/2006/main">
            <a:r>
              <a:t>출처 확인 기준: 2026-09-15</a:t>
            </a:r>
          </a:p>
          <a:p xmlns:a="http://schemas.openxmlformats.org/drawingml/2006/main">
            <a:r>
              <a:t>https://naeil-bbang.vercel.app/research/chronos/analysis.json</a:t>
            </a:r>
          </a:p>
          <a:p xmlns:a="http://schemas.openxmlformats.org/drawingml/2006/main">
            <a:r>
              <a:t>https://naeil-bbang.vercel.app/research/chronos/methodology.md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https://huggingface.co/amazon/chronos-bolt-small</a:t>
            </a:r>
            <a:endParaRPr/>
          </a:p>
          <a:p xmlns:a="http://schemas.openxmlformats.org/drawingml/2006/main">
            <a:pPr marL="0" lvl="0" indent="0" algn="l">
              <a:spcBef>
                <a:spcPts val="0"/>
              </a:spcBef>
              <a:spcAft>
                <a:spcPts val="0"/>
              </a:spcAft>
              <a:buNone/>
            </a:pPr>
            <a:r>
              <a:t>https://github.com/amazon-science/chronos-forecasting</a:t>
            </a:r>
            <a:endParaRPr/>
          </a:p>
          <a:p xmlns:a="http://schemas.openxmlformats.org/drawingml/2006/main">
            <a:pPr marL="0" lvl="0" indent="0" algn="l">
              <a:spcBef>
                <a:spcPts val="0"/>
              </a:spcBef>
              <a:spcAft>
                <a:spcPts val="0"/>
              </a:spcAft>
              <a:buNone/>
            </a:pPr>
            <a:r>
              <a:t>https://github.com/lleisner/bakery_sales_forecasting/tree/d4c8fb84140964a122bbbd851e712b1f11ef3a69/data/raw_sources/sales</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https://naeil-bbang.vercel.app/research/chronos/predictions.csv</a:t>
            </a:r>
            <a:endParaRPr/>
          </a:p>
          <a:p xmlns:a="http://schemas.openxmlformats.org/drawingml/2006/main">
            <a:pPr marL="0" lvl="0" indent="0" algn="l">
              <a:spcBef>
                <a:spcPts val="0"/>
              </a:spcBef>
              <a:spcAft>
                <a:spcPts val="0"/>
              </a:spcAft>
              <a:buNone/>
            </a:pPr>
            <a:r>
              <a:t>https://naeil-bbang.vercel.app/research/chronos/methodology.md</a:t>
            </a:r>
            <a:endParaRPr/>
          </a:p>
          <a:p xmlns:a="http://schemas.openxmlformats.org/drawingml/2006/main">
            <a:pPr marL="0" lvl="0" indent="0" algn="l">
              <a:spcBef>
                <a:spcPts val="0"/>
              </a:spcBef>
              <a:spcAft>
                <a:spcPts val="0"/>
              </a:spcAft>
              <a:buNone/>
            </a:pPr>
            <a:r>
              <a:t>https://naeil-bbang.vercel.app/research/chronos/verification.json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확인 기준: 2026-09-15</a:t>
            </a:r>
            <a:endParaRPr/>
          </a:p>
          <a:p xmlns:a="http://schemas.openxmlformats.org/drawingml/2006/main">
            <a:pPr marL="0" lvl="0" indent="0" algn="l">
              <a:spcBef>
                <a:spcPts val="0"/>
              </a:spcBef>
              <a:spcAft>
                <a:spcPts val="0"/>
              </a:spcAft>
              <a:buNone/>
            </a:pPr>
            <a:r>
              <a:t>https://naeil-bbang.vercel.app/research/chronos/analysis.json</a:t>
            </a:r>
            <a:endParaRPr/>
          </a:p>
          <a:p xmlns:a="http://schemas.openxmlformats.org/drawingml/2006/main">
            <a:pPr marL="0" lvl="0" indent="0" algn="l">
              <a:spcBef>
                <a:spcPts val="0"/>
              </a:spcBef>
              <a:spcAft>
                <a:spcPts val="0"/>
              </a:spcAft>
              <a:buNone/>
            </a:pPr>
            <a:r>
              <a:t>https://naeil-bbang.vercel.app/research/chronos/methodology.md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08ee9c81aa47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6d7d1f7fa34a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99fb1af22a4a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1f677ed96148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128dd5310340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4ccf640d9e438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f605a9d6f4a41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844c9147b0f4c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5387209491c4fe9" /><Relationship Type="http://schemas.openxmlformats.org/officeDocument/2006/relationships/image" Target="/ppt/media/image.png" Id="R61ba1fb1106e436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a72b502c2b642d8" /><Relationship Type="http://schemas.openxmlformats.org/officeDocument/2006/relationships/image" Target="/ppt/media/image2.png" Id="Rcc366f60137c46d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61ba1fb1106e4363">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cc366f60137c46d8">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a29eab19254406" /><Relationship Type="http://schemas.openxmlformats.org/officeDocument/2006/relationships/slideLayout" Target="/ppt/slideLayouts/slideLayout1.xml" Id="R299e54a592064342" /><Relationship Type="http://schemas.openxmlformats.org/officeDocument/2006/relationships/slideLayout" Target="/ppt/slideLayouts/slideLayout2.xml" Id="Rb0c365b3d7114bc7" /><Relationship Type="http://schemas.openxmlformats.org/officeDocument/2006/relationships/slideLayout" Target="/ppt/slideLayouts/slideLayout3.xml" Id="R1a5e1d81bcc84ff1" /><Relationship Type="http://schemas.openxmlformats.org/officeDocument/2006/relationships/slideLayout" Target="/ppt/slideLayouts/slideLayout4.xml" Id="R9f828eaf206c4720" /><Relationship Type="http://schemas.openxmlformats.org/officeDocument/2006/relationships/slideLayout" Target="/ppt/slideLayouts/slideLayout5.xml" Id="R7b6d79bd00c549cb" /><Relationship Type="http://schemas.openxmlformats.org/officeDocument/2006/relationships/slideLayout" Target="/ppt/slideLayouts/slideLayout6.xml" Id="R412fffd060d74ddc" /><Relationship Type="http://schemas.openxmlformats.org/officeDocument/2006/relationships/slideLayout" Target="/ppt/slideLayouts/slideLayout7.xml" Id="Rb6b5c6f031c64403" /><Relationship Type="http://schemas.openxmlformats.org/officeDocument/2006/relationships/slideLayout" Target="/ppt/slideLayouts/slideLayout8.xml" Id="R31c05f107d9949bd" /><Relationship Type="http://schemas.openxmlformats.org/officeDocument/2006/relationships/slideLayout" Target="/ppt/slideLayouts/slideLayout9.xml" Id="R819fb6ddc1fd4ca0" /><Relationship Type="http://schemas.openxmlformats.org/officeDocument/2006/relationships/slideLayout" Target="/ppt/slideLayouts/slideLayout10.xml" Id="Ree98cd28c9ef4aa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9e54a592064342"/>
    <p:sldLayoutId xmlns:r="http://schemas.openxmlformats.org/officeDocument/2006/relationships" id="2147483650" r:id="Rb0c365b3d7114bc7"/>
    <p:sldLayoutId xmlns:r="http://schemas.openxmlformats.org/officeDocument/2006/relationships" id="2147483651" r:id="R1a5e1d81bcc84ff1"/>
    <p:sldLayoutId xmlns:r="http://schemas.openxmlformats.org/officeDocument/2006/relationships" id="2147483652" r:id="R9f828eaf206c4720"/>
    <p:sldLayoutId xmlns:r="http://schemas.openxmlformats.org/officeDocument/2006/relationships" id="2147483653" r:id="R7b6d79bd00c549cb"/>
    <p:sldLayoutId xmlns:r="http://schemas.openxmlformats.org/officeDocument/2006/relationships" id="2147483654" r:id="R412fffd060d74ddc"/>
    <p:sldLayoutId xmlns:r="http://schemas.openxmlformats.org/officeDocument/2006/relationships" id="2147483655" r:id="Rb6b5c6f031c64403"/>
    <p:sldLayoutId xmlns:r="http://schemas.openxmlformats.org/officeDocument/2006/relationships" id="2147483656" r:id="R31c05f107d9949bd"/>
    <p:sldLayoutId xmlns:r="http://schemas.openxmlformats.org/officeDocument/2006/relationships" id="2147483657" r:id="R819fb6ddc1fd4ca0"/>
    <p:sldLayoutId xmlns:r="http://schemas.openxmlformats.org/officeDocument/2006/relationships" id="2147483658" r:id="Ree98cd28c9ef4aa9"/>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cba45c4906431d" /><Relationship Type="http://schemas.openxmlformats.org/officeDocument/2006/relationships/image" Target="/ppt/media/image3.png" Id="Rb5809c87c4f24929" /><Relationship Type="http://schemas.openxmlformats.org/officeDocument/2006/relationships/notesSlide" Target="/ppt/notesSlides/notesSlide1.xml" Id="R7140e7fd6d98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4f0798e17b4645dc" /><Relationship Type="http://schemas.openxmlformats.org/officeDocument/2006/relationships/notesSlide" Target="/ppt/notesSlides/notesSlide2.xml" Id="R1e2fcd69ae4246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88aa816f65864567" /><Relationship Type="http://schemas.openxmlformats.org/officeDocument/2006/relationships/notesSlide" Target="/ppt/notesSlides/notesSlide3.xml" Id="Rfd5ccef4e62f4d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05553dff2a4c00" /><Relationship Type="http://schemas.openxmlformats.org/officeDocument/2006/relationships/notesSlide" Target="/ppt/notesSlides/notesSlide4.xml" Id="R0c90952a391540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ac050f8ee724918" /><Relationship Type="http://schemas.openxmlformats.org/officeDocument/2006/relationships/notesSlide" Target="/ppt/notesSlides/notesSlide5.xml" Id="R24b5d8a7c93b49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ac51867c9740ae" /><Relationship Type="http://schemas.openxmlformats.org/officeDocument/2006/relationships/notesSlide" Target="/ppt/notesSlides/notesSlide6.xml" Id="Re4473ab1e15243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26e070a3ed48b7" /><Relationship Type="http://schemas.openxmlformats.org/officeDocument/2006/relationships/chart" Target="/ppt/slides/charts/chart1.xml" Id="Rf7c47ad1ae7d406f" /><Relationship Type="http://schemas.openxmlformats.org/officeDocument/2006/relationships/notesSlide" Target="/ppt/notesSlides/notesSlide7.xml" Id="R45701a3e21d946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a5da13858e1423c" /><Relationship Type="http://schemas.openxmlformats.org/officeDocument/2006/relationships/notesSlide" Target="/ppt/notesSlides/notesSlide8.xml" Id="Rdbe23c471eba43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3fdd9b930b442a" /><Relationship Type="http://schemas.openxmlformats.org/officeDocument/2006/relationships/notesSlide" Target="/ppt/notesSlides/notesSlide9.xml" Id="R8d4368fb7eca4d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6984625d7e4322" /><Relationship Type="http://schemas.openxmlformats.org/officeDocument/2006/relationships/chart" Target="/ppt/slides/charts/chart2.xml" Id="R4abe84be5a5f4e45" /><Relationship Type="http://schemas.openxmlformats.org/officeDocument/2006/relationships/notesSlide" Target="/ppt/notesSlides/notesSlide10.xml" Id="Rfc985e2940ec42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ed340e05c840b8" /><Relationship Type="http://schemas.openxmlformats.org/officeDocument/2006/relationships/notesSlide" Target="/ppt/notesSlides/notesSlide11.xml" Id="R95871cbec63744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bf258317b794d66" /><Relationship Type="http://schemas.openxmlformats.org/officeDocument/2006/relationships/notesSlide" Target="/ppt/notesSlides/notesSlide12.xml" Id="R4b4559655b6549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14c632edb89c405b" /><Relationship Type="http://schemas.openxmlformats.org/officeDocument/2006/relationships/notesSlide" Target="/ppt/notesSlides/notesSlide13.xml" Id="Rc135c57587e346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e3755f61dfb4038" /><Relationship Type="http://schemas.openxmlformats.org/officeDocument/2006/relationships/hyperlink" Target="https://huggingface.co/amazon/chronos-bolt-small" TargetMode="External" Id="R75382ba9d7b24e56" /><Relationship Type="http://schemas.openxmlformats.org/officeDocument/2006/relationships/hyperlink" Target="https://github.com/amazon-science/chronos-forecasting" TargetMode="External" Id="R17c4922495aa428a" /><Relationship Type="http://schemas.openxmlformats.org/officeDocument/2006/relationships/hyperlink" Target="https://github.com/lleisner/bakery_sales_forecasting/tree/d4c8fb84140964a122bbbd851e712b1f11ef3a69/data/raw_sources/sales" TargetMode="External" Id="Rcac8fbd0db944d99" /><Relationship Type="http://schemas.openxmlformats.org/officeDocument/2006/relationships/hyperlink" Target="https://naeil-bbang.vercel.app/research/chronos/analysis.json" TargetMode="External" Id="Ra0321ad0b7aa411a" /><Relationship Type="http://schemas.openxmlformats.org/officeDocument/2006/relationships/notesSlide" Target="/ppt/notesSlides/notesSlide14.xml" Id="Raf9055228e9342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초과</c:v>
          </c:tx>
          <c:spPr>
            <a:solidFill xmlns:a="http://schemas.openxmlformats.org/drawingml/2006/main">
              <a:srgbClr val="5EC4FF"/>
            </a:solidFill>
          </c:spPr>
          <c:cat>
            <c:strRef>
              <c:f>'Chart Data'!$A$2:$A$4</c:f>
              <c:strCache>
                <c:ptCount val="3"/>
                <c:pt idx="0">
                  <c:v>최종</c:v>
                </c:pt>
                <c:pt idx="1">
                  <c:v>Chronos 원예측</c:v>
                </c:pt>
                <c:pt idx="2">
                  <c:v>Chronos 보정</c:v>
                </c:pt>
              </c:strCache>
            </c:strRef>
          </c:cat>
          <c:val>
            <c:numRef>
              <c:f>'Chart Data'!$B$2:$B$4</c:f>
              <c:numCache>
                <c:formatCode>#,##0</c:formatCode>
                <c:ptCount val="3"/>
                <c:pt idx="0">
                  <c:v>5915</c:v>
                </c:pt>
                <c:pt idx="1">
                  <c:v>6202</c:v>
                </c:pt>
                <c:pt idx="2">
                  <c:v>6295</c:v>
                </c:pt>
              </c:numCache>
            </c:numRef>
          </c:val>
        </c:ser>
        <c:ser>
          <c:idx val="1"/>
          <c:order val="1"/>
          <c:tx>
            <c:v>부족 × 3</c:v>
          </c:tx>
          <c:spPr>
            <a:solidFill xmlns:a="http://schemas.openxmlformats.org/drawingml/2006/main">
              <a:srgbClr val="0077B8"/>
            </a:solidFill>
          </c:spPr>
          <c:cat>
            <c:strRef>
              <c:f>'Chart Data'!$C$2:$C$4</c:f>
              <c:strCache>
                <c:ptCount val="3"/>
                <c:pt idx="0">
                  <c:v>최종</c:v>
                </c:pt>
                <c:pt idx="1">
                  <c:v>Chronos 원예측</c:v>
                </c:pt>
                <c:pt idx="2">
                  <c:v>Chronos 보정</c:v>
                </c:pt>
              </c:strCache>
            </c:strRef>
          </c:cat>
          <c:val>
            <c:numRef>
              <c:f>'Chart Data'!$D$2:$D$4</c:f>
              <c:numCache>
                <c:formatCode>#,##0</c:formatCode>
                <c:ptCount val="3"/>
                <c:pt idx="0">
                  <c:v>4365</c:v>
                </c:pt>
                <c:pt idx="1">
                  <c:v>5046</c:v>
                </c:pt>
                <c:pt idx="2">
                  <c:v>4890</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000000"/>
                  </a:solidFill>
                  <a:latin typeface="Helvetica Neue"/>
                  <a:ea typeface="Malgun Gothic"/>
                  <a:cs typeface="Malgun Gothic"/>
                </a:defRPr>
              </a:pPr>
            </a:p>
          </c:txPr>
          <c:dLblPos val="outEnd"/>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00000"/>
                </a:solidFill>
                <a:latin typeface="Helvetica Neue"/>
                <a:ea typeface="Malgun Gothic"/>
                <a:cs typeface="Malgun Gothi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Malgun Gothic"/>
                <a:cs typeface="Malgun Gothic"/>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3E3E3E"/>
              </a:solidFill>
              <a:latin typeface="Helvetica Neue"/>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실제</c:v>
          </c:tx>
          <c:spPr>
            <a:ln xmlns:a="http://schemas.openxmlformats.org/drawingml/2006/main" w="28575">
              <a:solidFill>
                <a:srgbClr val="202C40"/>
              </a:solidFill>
            </a:ln>
          </c:spPr>
          <c:marker>
            <c:symbol val="none"/>
          </c:marker>
          <c:cat>
            <c:strRef>
              <c:f>'Chart Data'!$A$2:$A$22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Data'!$B$2:$B$22</c:f>
              <c:numCache>
                <c:formatCode>#,##0</c:formatCode>
                <c:ptCount val="21"/>
                <c:pt idx="0">
                  <c:v>13</c:v>
                </c:pt>
                <c:pt idx="1">
                  <c:v>12</c:v>
                </c:pt>
                <c:pt idx="2">
                  <c:v>42</c:v>
                </c:pt>
                <c:pt idx="3">
                  <c:v>20</c:v>
                </c:pt>
                <c:pt idx="4">
                  <c:v>24</c:v>
                </c:pt>
                <c:pt idx="5">
                  <c:v>20</c:v>
                </c:pt>
                <c:pt idx="6">
                  <c:v>18</c:v>
                </c:pt>
                <c:pt idx="7">
                  <c:v>29</c:v>
                </c:pt>
                <c:pt idx="8">
                  <c:v>28</c:v>
                </c:pt>
                <c:pt idx="9">
                  <c:v>28</c:v>
                </c:pt>
                <c:pt idx="10">
                  <c:v>33</c:v>
                </c:pt>
                <c:pt idx="11">
                  <c:v>15</c:v>
                </c:pt>
                <c:pt idx="12">
                  <c:v>33</c:v>
                </c:pt>
                <c:pt idx="13">
                  <c:v>16</c:v>
                </c:pt>
                <c:pt idx="14">
                  <c:v>20</c:v>
                </c:pt>
                <c:pt idx="15">
                  <c:v>29</c:v>
                </c:pt>
                <c:pt idx="16">
                  <c:v>26</c:v>
                </c:pt>
                <c:pt idx="17">
                  <c:v>30</c:v>
                </c:pt>
                <c:pt idx="18">
                  <c:v>30</c:v>
                </c:pt>
                <c:pt idx="19">
                  <c:v>31</c:v>
                </c:pt>
                <c:pt idx="20">
                  <c:v>30</c:v>
                </c:pt>
              </c:numCache>
            </c:numRef>
          </c:val>
          <c:smooth val="0"/>
        </c:ser>
        <c:ser>
          <c:idx val="1"/>
          <c:order val="1"/>
          <c:tx>
            <c:v>최종</c:v>
          </c:tx>
          <c:spPr>
            <a:ln xmlns:a="http://schemas.openxmlformats.org/drawingml/2006/main" w="28575">
              <a:solidFill>
                <a:srgbClr val="0077B8"/>
              </a:solidFill>
            </a:ln>
          </c:spPr>
          <c:marker>
            <c:symbol val="none"/>
          </c:marker>
          <c:cat>
            <c:strRef>
              <c:f>'Chart Data'!$C$2:$C$22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Data'!$D$2:$D$22</c:f>
              <c:numCache>
                <c:formatCode>#,##0</c:formatCode>
                <c:ptCount val="21"/>
                <c:pt idx="0">
                  <c:v>21</c:v>
                </c:pt>
                <c:pt idx="1">
                  <c:v>22</c:v>
                </c:pt>
                <c:pt idx="2">
                  <c:v>26</c:v>
                </c:pt>
                <c:pt idx="3">
                  <c:v>24</c:v>
                </c:pt>
                <c:pt idx="4">
                  <c:v>23</c:v>
                </c:pt>
                <c:pt idx="5">
                  <c:v>25</c:v>
                </c:pt>
                <c:pt idx="6">
                  <c:v>27</c:v>
                </c:pt>
                <c:pt idx="7">
                  <c:v>28</c:v>
                </c:pt>
                <c:pt idx="8">
                  <c:v>31</c:v>
                </c:pt>
                <c:pt idx="9">
                  <c:v>39</c:v>
                </c:pt>
                <c:pt idx="10">
                  <c:v>28</c:v>
                </c:pt>
                <c:pt idx="11">
                  <c:v>32</c:v>
                </c:pt>
                <c:pt idx="12">
                  <c:v>28</c:v>
                </c:pt>
                <c:pt idx="13">
                  <c:v>33</c:v>
                </c:pt>
                <c:pt idx="14">
                  <c:v>31</c:v>
                </c:pt>
                <c:pt idx="15">
                  <c:v>31</c:v>
                </c:pt>
                <c:pt idx="16">
                  <c:v>43</c:v>
                </c:pt>
                <c:pt idx="17">
                  <c:v>31</c:v>
                </c:pt>
                <c:pt idx="18">
                  <c:v>31</c:v>
                </c:pt>
                <c:pt idx="19">
                  <c:v>31</c:v>
                </c:pt>
                <c:pt idx="20">
                  <c:v>34</c:v>
                </c:pt>
              </c:numCache>
            </c:numRef>
          </c:val>
          <c:smooth val="0"/>
        </c:ser>
        <c:ser>
          <c:idx val="2"/>
          <c:order val="2"/>
          <c:tx>
            <c:v>Chronos 원예측</c:v>
          </c:tx>
          <c:spPr>
            <a:ln xmlns:a="http://schemas.openxmlformats.org/drawingml/2006/main" w="19050">
              <a:solidFill>
                <a:srgbClr val="A2BAC8"/>
              </a:solidFill>
            </a:ln>
          </c:spPr>
          <c:marker>
            <c:symbol val="none"/>
          </c:marker>
          <c:cat>
            <c:strRef>
              <c:f>'Chart Data'!$E$2:$E$22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Data'!$F$2:$F$22</c:f>
              <c:numCache>
                <c:formatCode>#,##0</c:formatCode>
                <c:ptCount val="21"/>
                <c:pt idx="0">
                  <c:v>20</c:v>
                </c:pt>
                <c:pt idx="1">
                  <c:v>22</c:v>
                </c:pt>
                <c:pt idx="2">
                  <c:v>21</c:v>
                </c:pt>
                <c:pt idx="3">
                  <c:v>26</c:v>
                </c:pt>
                <c:pt idx="4">
                  <c:v>21</c:v>
                </c:pt>
                <c:pt idx="5">
                  <c:v>24</c:v>
                </c:pt>
                <c:pt idx="6">
                  <c:v>22</c:v>
                </c:pt>
                <c:pt idx="7">
                  <c:v>24</c:v>
                </c:pt>
                <c:pt idx="8">
                  <c:v>33</c:v>
                </c:pt>
                <c:pt idx="9">
                  <c:v>34</c:v>
                </c:pt>
                <c:pt idx="10">
                  <c:v>29</c:v>
                </c:pt>
                <c:pt idx="11">
                  <c:v>29</c:v>
                </c:pt>
                <c:pt idx="12">
                  <c:v>23</c:v>
                </c:pt>
                <c:pt idx="13">
                  <c:v>30</c:v>
                </c:pt>
                <c:pt idx="14">
                  <c:v>27</c:v>
                </c:pt>
                <c:pt idx="15">
                  <c:v>31</c:v>
                </c:pt>
                <c:pt idx="16">
                  <c:v>36</c:v>
                </c:pt>
                <c:pt idx="17">
                  <c:v>31</c:v>
                </c:pt>
                <c:pt idx="18">
                  <c:v>30</c:v>
                </c:pt>
                <c:pt idx="19">
                  <c:v>33</c:v>
                </c:pt>
                <c:pt idx="20">
                  <c:v>36</c:v>
                </c:pt>
              </c:numCache>
            </c:numRef>
          </c:val>
          <c:smooth val="0"/>
        </c:ser>
        <c:ser>
          <c:idx val="3"/>
          <c:order val="3"/>
          <c:tx>
            <c:v>Chronos 보정</c:v>
          </c:tx>
          <c:spPr>
            <a:ln xmlns:a="http://schemas.openxmlformats.org/drawingml/2006/main" w="19050">
              <a:solidFill>
                <a:srgbClr val="5EC4FF"/>
              </a:solidFill>
            </a:ln>
          </c:spPr>
          <c:marker>
            <c:symbol val="none"/>
          </c:marker>
          <c:cat>
            <c:strRef>
              <c:f>'Chart Data'!$G$2:$G$22</c:f>
              <c:strCache>
                <c:ptCount val="21"/>
                <c:pt idx="0">
                  <c:v>07-01</c:v>
                </c:pt>
                <c:pt idx="1">
                  <c:v>07-02</c:v>
                </c:pt>
                <c:pt idx="2">
                  <c:v>07-03</c:v>
                </c:pt>
                <c:pt idx="3">
                  <c:v>07-04</c:v>
                </c:pt>
                <c:pt idx="4">
                  <c:v>07-05</c:v>
                </c:pt>
                <c:pt idx="5">
                  <c:v>07-06</c:v>
                </c:pt>
                <c:pt idx="6">
                  <c:v>07-07</c:v>
                </c:pt>
                <c:pt idx="7">
                  <c:v>07-08</c:v>
                </c:pt>
                <c:pt idx="8">
                  <c:v>07-09</c:v>
                </c:pt>
                <c:pt idx="9">
                  <c:v>07-10</c:v>
                </c:pt>
                <c:pt idx="10">
                  <c:v>07-11</c:v>
                </c:pt>
                <c:pt idx="11">
                  <c:v>07-12</c:v>
                </c:pt>
                <c:pt idx="12">
                  <c:v>07-13</c:v>
                </c:pt>
                <c:pt idx="13">
                  <c:v>07-14</c:v>
                </c:pt>
                <c:pt idx="14">
                  <c:v>07-15</c:v>
                </c:pt>
                <c:pt idx="15">
                  <c:v>07-16</c:v>
                </c:pt>
                <c:pt idx="16">
                  <c:v>07-17</c:v>
                </c:pt>
                <c:pt idx="17">
                  <c:v>07-18</c:v>
                </c:pt>
                <c:pt idx="18">
                  <c:v>07-19</c:v>
                </c:pt>
                <c:pt idx="19">
                  <c:v>07-20</c:v>
                </c:pt>
                <c:pt idx="20">
                  <c:v>07-21</c:v>
                </c:pt>
              </c:strCache>
            </c:strRef>
          </c:cat>
          <c:val>
            <c:numRef>
              <c:f>'Chart Data'!$H$2:$H$22</c:f>
              <c:numCache>
                <c:formatCode>#,##0</c:formatCode>
                <c:ptCount val="21"/>
                <c:pt idx="0">
                  <c:v>20</c:v>
                </c:pt>
                <c:pt idx="1">
                  <c:v>22</c:v>
                </c:pt>
                <c:pt idx="2">
                  <c:v>21</c:v>
                </c:pt>
                <c:pt idx="3">
                  <c:v>26</c:v>
                </c:pt>
                <c:pt idx="4">
                  <c:v>20</c:v>
                </c:pt>
                <c:pt idx="5">
                  <c:v>24</c:v>
                </c:pt>
                <c:pt idx="6">
                  <c:v>22</c:v>
                </c:pt>
                <c:pt idx="7">
                  <c:v>23</c:v>
                </c:pt>
                <c:pt idx="8">
                  <c:v>33</c:v>
                </c:pt>
                <c:pt idx="9">
                  <c:v>34</c:v>
                </c:pt>
                <c:pt idx="10">
                  <c:v>29</c:v>
                </c:pt>
                <c:pt idx="11">
                  <c:v>29</c:v>
                </c:pt>
                <c:pt idx="12">
                  <c:v>23</c:v>
                </c:pt>
                <c:pt idx="13">
                  <c:v>30</c:v>
                </c:pt>
                <c:pt idx="14">
                  <c:v>27</c:v>
                </c:pt>
                <c:pt idx="15">
                  <c:v>31</c:v>
                </c:pt>
                <c:pt idx="16">
                  <c:v>35</c:v>
                </c:pt>
                <c:pt idx="17">
                  <c:v>30</c:v>
                </c:pt>
                <c:pt idx="18">
                  <c:v>30</c:v>
                </c:pt>
                <c:pt idx="19">
                  <c:v>33</c:v>
                </c:pt>
                <c:pt idx="20">
                  <c:v>36</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Helvetica Neue"/>
                <a:ea typeface="Malgun Gothic"/>
                <a:cs typeface="Malgun Gothic"/>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Malgun Gothic"/>
                <a:cs typeface="Malgun Gothic"/>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125">
              <a:latin typeface="Helvetica Neue"/>
              <a:ea typeface="Malgun Gothic"/>
              <a:cs typeface="Malgun Gothic"/>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4324DD7-B2A7-C70F-0160-11F227D46A09}"/>
              </a:ext>
            </a:extLst>
          </p:cNvPr>
          <p:cNvSpPr>
            <a:spLocks xmlns:a="http://schemas.openxmlformats.org/drawingml/2006/main" noGrp="1"/>
          </p:cNvSpPr>
          <p:nvPr>
            <p:ph type="ctrTitle" idx="0"/>
          </p:nvPr>
        </p:nvSpPr>
        <p:spPr>
          <a:xfrm xmlns:a="http://schemas.openxmlformats.org/drawingml/2006/main">
            <a:off x="626339" y="449662"/>
            <a:ext cx="6730425" cy="2401447"/>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6150" b="0">
                <a:solidFill>
                  <a:srgbClr val="2D617A"/>
                </a:solidFill>
                <a:latin typeface="Helvetica Neue"/>
                <a:ea typeface="Malgun Gothic"/>
                <a:cs typeface="Malgun Gothic"/>
              </a:defRPr>
            </a:pPr>
            <a:r>
              <a:rPr sz="6150" b="0">
                <a:solidFill>
                  <a:srgbClr val="2D617A"/>
                </a:solidFill>
                <a:latin typeface="Helvetica Neue"/>
                <a:ea typeface="Malgun Gothic"/>
                <a:cs typeface="Malgun Gothic"/>
              </a:rPr>
              <a:t>내일의 빵</a:t>
            </a:r>
          </a:p>
          <a:p xmlns:a="http://schemas.openxmlformats.org/drawingml/2006/main">
            <a:pPr marL="0" indent="0">
              <a:lnSpc>
                <a:spcPct val="110000"/>
              </a:lnSpc>
              <a:spcBef>
                <a:spcPts val="0"/>
              </a:spcBef>
              <a:spcAft>
                <a:spcPts val="0"/>
              </a:spcAft>
              <a:buNone/>
              <a:defRPr sz="6150" b="0">
                <a:solidFill>
                  <a:srgbClr val="2D617A"/>
                </a:solidFill>
                <a:latin typeface="Helvetica Neue"/>
                <a:ea typeface="Malgun Gothic"/>
                <a:cs typeface="Malgun Gothic"/>
              </a:defRPr>
            </a:pPr>
            <a:r>
              <a:rPr sz="6150" b="0">
                <a:solidFill>
                  <a:srgbClr val="2D617A"/>
                </a:solidFill>
                <a:latin typeface="Helvetica Neue"/>
                <a:ea typeface="Malgun Gothic"/>
                <a:cs typeface="Malgun Gothic"/>
              </a:rPr>
              <a:t>Chronos 비교</a:t>
            </a:r>
          </a:p>
        </p:txBody>
      </p:sp>
      <p:sp>
        <p:nvSpPr>
          <p:cNvPr id="5" name="Subtitle 4">
            <a:extLst xmlns:a="http://schemas.openxmlformats.org/drawingml/2006/main">
              <a:ext uri="{FF2B5EF4-FFF2-40B4-BE49-F238E27FC236}">
                <a16:creationId xmlns:a16="http://schemas.microsoft.com/office/drawing/2014/main" id="{43501A55-18E1-9822-7454-1E3D85380DC1}"/>
              </a:ext>
            </a:extLst>
          </p:cNvPr>
          <p:cNvSpPr>
            <a:spLocks xmlns:a="http://schemas.openxmlformats.org/drawingml/2006/main" noGrp="1"/>
          </p:cNvSpPr>
          <p:nvPr>
            <p:ph type="subTitle" idx="1"/>
          </p:nvPr>
        </p:nvSpPr>
        <p:spPr>
          <a:xfrm xmlns:a="http://schemas.openxmlformats.org/drawingml/2006/main">
            <a:off x="642669" y="3564938"/>
            <a:ext cx="9525000" cy="614676"/>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최종 모델과 Chronos-Bolt Small</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같은 974개 관측의 후향 평가 · 2026년 9월 15일</a:t>
            </a:r>
          </a:p>
        </p:txBody>
      </p:sp>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b5809c87c4f24929"/>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기존 최종 모델</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Extra Trees 26.7543% + 앙상블 73.2457%</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내부 비중은 매주, 잔차는 매일 갱신</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2598689-54C9-18A7-3A19-ED76AA08988F}" type="slidenum">
              <a:t>2</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Chronos-Bolt Small</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공개 사전학습 모델의 다음 날 예측</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이번 빵집 데이터로 가중치 학습 없음</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비교 대상과 평가 범위</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원예측과 매일 보정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원예측의 성능과 최근 오차 보정의</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추가 효과를 각각 확인</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같은 평가 자료</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날짜·상품 974건, 실제 판매 23,373개</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2023년 3개 기간, 기존 상품 6종</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370개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05-06~06-30</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07-01~08-31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당일 이전 자료만 사용</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202359C0-8A7A-196E-DD58-8E6569619F09}" type="slidenum">
              <a:t>3</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실험 기간과 공통 데이터</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366개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07-07~08-31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09-01~10-31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당일 이전 자료만 사용</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238개 관측</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보정 09-06~10-31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평가 11-01~12-11</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당일 이전 자료만 사용</a:t>
            </a:r>
          </a:p>
        </p:txBody>
      </p:sp>
      <p:cxnSp>
        <p:nvCxnSpPr>
          <p:cNvPr id="25"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7–8월</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9–10월</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2023년 11–12월</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9" name="">
            <a:extLst xmlns:a="http://schemas.openxmlformats.org/drawingml/2006/main">
              <a:ext uri="{FF2B5EF4-FFF2-40B4-BE49-F238E27FC236}">
                <a16:creationId xmlns:a16="http://schemas.microsoft.com/office/drawing/2014/main" id="{13321D34-4EF7-4B5D-86EC-3905EC7E8AD5}"/>
              </a:ext>
            </a:extLst>
          </p:cNvPr>
          <p:cNvSpPr>
            <a:spLocks xmlns:a="http://schemas.openxmlformats.org/drawingml/2006/main" noGrp="1"/>
          </p:cNvSpPr>
          <p:nvPr/>
        </p:nvSpPr>
        <p:spPr>
          <a:xfrm xmlns:a="http://schemas.openxmlformats.org/drawingml/2006/main">
            <a:off x="393668" y="1352550"/>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독일 빵집의 시간대별 순판매수량을 날짜·상품별로 합산했습니다.</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원자료 2022-01-01~2023-12-11. 결측일은 판매 0으로 채우지 않았습니다.</a:t>
            </a:r>
          </a:p>
        </p:txBody>
      </p:sp>
    </p:spTree>
    <p:extLst>
      <p:ext uri="{BB962C8B-B14F-4D97-AF65-F5344CB8AC3E}">
        <p14:creationId xmlns:p14="http://schemas.microsoft.com/office/powerpoint/2010/main" val="34463389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모델별 입력과 업데이트 방식</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예측일의 실제값은 모두 차단합니다. 사전학습과 입력 정보의 차이는 별도로 해석합니다.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2085975"/>
          <a:ext xmlns:a="http://schemas.openxmlformats.org/drawingml/2006/main" cx="11404568" cy="3914775"/>
        </p:xfrm>
        <a:graphic xmlns:a="http://schemas.openxmlformats.org/drawingml/2006/main">
          <a:graphicData uri="http://schemas.openxmlformats.org/drawingml/2006/table">
            <a:tbl>
              <a:tblPr firstRow="1" bandRow="0"/>
              <a:tblGrid>
                <a:gridCol w="2143125"/>
                <a:gridCol w="3305175"/>
                <a:gridCol w="2895600"/>
                <a:gridCol w="3060668"/>
              </a:tblGrid>
              <a:tr h="559254">
                <a:tc>
                  <a:txBody>
                    <a:bodyPr lIns="66675" tIns="47625" rIns="66675" bIns="38100">
                      <a:noAutofit/>
                    </a:bodyPr>
                    <a:lstStyle/>
                    <a:p>
                      <a:pPr algn="l"/>
                      <a:r>
                        <a:rPr sz="1650" b="1">
                          <a:solidFill>
                            <a:srgbClr val="0077B8"/>
                          </a:solidFill>
                          <a:latin typeface="Helvetica Neue"/>
                          <a:ea typeface="Malgun Gothic"/>
                          <a:cs typeface="Malgun Gothic"/>
                        </a:rPr>
                        <a:t>구분</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Chronos 매일 보정</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기본 예측기</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상품 자료로 사전 학습</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공개 Small 48M</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원예측과 동일</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목표일 이전 입력</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과거 판매·달력 특성</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최근 512일 판매</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최근 512일 판매</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예측 범위</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다음 날</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다음 날 1개 시점</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다음 날 1개 시점</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현지 가중치 재학습</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평가 중 없음</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없음</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잔차·비중 갱신</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매일 잔차·매주 비중</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없음</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최근 56일 잔차 매일</a:t>
                      </a:r>
                    </a:p>
                  </a:txBody>
                  <a:tcPr marL="91440" marR="91440" marT="45720" marB="45720" anchor="ctr">
                    <a:solidFill>
                      <a:srgbClr val="FFFFFF"/>
                    </a:solidFill>
                  </a:tcPr>
                </a:tc>
              </a:tr>
              <a:tr h="559254">
                <a:tc>
                  <a:txBody>
                    <a:bodyPr lIns="66675" tIns="47625" rIns="66675" bIns="38100">
                      <a:noAutofit/>
                    </a:bodyPr>
                    <a:lstStyle/>
                    <a:p>
                      <a:pPr algn="l"/>
                      <a:r>
                        <a:rPr sz="1650" b="0">
                          <a:solidFill>
                            <a:srgbClr val="000000"/>
                          </a:solidFill>
                          <a:latin typeface="Helvetica Neue"/>
                          <a:ea typeface="Malgun Gothic"/>
                          <a:cs typeface="Malgun Gothic"/>
                        </a:rPr>
                        <a:t>P75 산출</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결합 분위수</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공식 구현의 분위수 보간</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보간값에 잔차 보정</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판매량 예측 오차</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WAPE = 절대오차 합 ÷ 실제 판매량 합</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P50과 관측 순판매 개수를 비교</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E5B3003-2C54-13C6-9832-7637201064DE}" type="slidenum">
              <a:t>5</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생산 권고량</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P75를 음수 없이 정수로 올림</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동일한 재고 0·배치 1·생산상한 없음</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수량 오차와 3:1 손실</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초과와 부족</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초과 = max(권고 − 판매, 0)</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부족 = max(판매 − 권고, 0)</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비용 비율 3:1 가정</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손실 = 초과수량 + 3 × 부족수량</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실제 폐기량·이익·금액을 측정하지 않음</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전체 974건의 비교 결과</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WAPE는 판매량 예측, 3:1 손실은 생산 권고를 평가합니다. 각 지표는 낮을수록 좋습니다.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143125"/>
          <a:ext xmlns:a="http://schemas.openxmlformats.org/drawingml/2006/main" cx="11404568" cy="3381375"/>
        </p:xfrm>
        <a:graphic xmlns:a="http://schemas.openxmlformats.org/drawingml/2006/main">
          <a:graphicData uri="http://schemas.openxmlformats.org/drawingml/2006/table">
            <a:tbl>
              <a:tblPr firstRow="1" bandRow="0"/>
              <a:tblGrid>
                <a:gridCol w="3114675"/>
                <a:gridCol w="1695450"/>
                <a:gridCol w="1428750"/>
                <a:gridCol w="1714500"/>
                <a:gridCol w="1714500"/>
                <a:gridCol w="1736693"/>
              </a:tblGrid>
              <a:tr h="563563">
                <a:tc>
                  <a:txBody>
                    <a:bodyPr lIns="66675" tIns="47625" rIns="66675" bIns="38100">
                      <a:noAutofit/>
                    </a:bodyPr>
                    <a:lstStyle/>
                    <a:p>
                      <a:pPr algn="l"/>
                      <a:r>
                        <a:rPr sz="1725" b="1">
                          <a:solidFill>
                            <a:srgbClr val="0077B8"/>
                          </a:solidFill>
                          <a:latin typeface="Helvetica Neue"/>
                          <a:ea typeface="Malgun Gothic"/>
                          <a:cs typeface="Malgun Gothic"/>
                        </a:rPr>
                        <a:t>모델</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MAE</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초과수량</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부족수량</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3:1 손실</a:t>
                      </a:r>
                    </a:p>
                  </a:txBody>
                  <a:tcPr marL="91440" marR="91440" marT="45720" marB="45720" anchor="ctr">
                    <a:solidFill>
                      <a:srgbClr val="FFFFFF"/>
                    </a:solidFill>
                  </a:tcPr>
                </a:tc>
              </a:tr>
              <a:tr h="563563">
                <a:tc>
                  <a:txBody>
                    <a:bodyPr lIns="66675" tIns="47625" rIns="66675" bIns="38100">
                      <a:noAutofit/>
                    </a:bodyPr>
                    <a:lstStyle/>
                    <a:p>
                      <a:pPr algn="l"/>
                      <a:r>
                        <a:rPr sz="1725" b="0">
                          <a:solidFill>
                            <a:srgbClr val="000000"/>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25.82%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6.19</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5,915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1,455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10,280</a:t>
                      </a:r>
                    </a:p>
                  </a:txBody>
                  <a:tcPr marL="91440" marR="91440" marT="45720" marB="45720" anchor="ctr">
                    <a:solidFill>
                      <a:srgbClr val="FFFFFF"/>
                    </a:solidFill>
                  </a:tcPr>
                </a:tc>
              </a:tr>
              <a:tr h="563563">
                <a:tc>
                  <a:txBody>
                    <a:bodyPr lIns="66675" tIns="47625" rIns="66675" bIns="38100">
                      <a:noAutofit/>
                    </a:bodyPr>
                    <a:lstStyle/>
                    <a:p>
                      <a:pPr algn="l"/>
                      <a:r>
                        <a:rPr sz="1725" b="0">
                          <a:solidFill>
                            <a:srgbClr val="000000"/>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26.68%</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6.40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6,202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1,682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11,248</a:t>
                      </a:r>
                    </a:p>
                  </a:txBody>
                  <a:tcPr marL="91440" marR="91440" marT="45720" marB="45720" anchor="ctr">
                    <a:solidFill>
                      <a:srgbClr val="FFFFFF"/>
                    </a:solidFill>
                  </a:tcPr>
                </a:tc>
              </a:tr>
              <a:tr h="563563">
                <a:tc>
                  <a:txBody>
                    <a:bodyPr lIns="66675" tIns="47625" rIns="66675" bIns="38100">
                      <a:noAutofit/>
                    </a:bodyPr>
                    <a:lstStyle/>
                    <a:p>
                      <a:pPr algn="l"/>
                      <a:r>
                        <a:rPr sz="1725" b="0">
                          <a:solidFill>
                            <a:srgbClr val="000000"/>
                          </a:solidFill>
                          <a:latin typeface="Helvetica Neue"/>
                          <a:ea typeface="Malgun Gothic"/>
                          <a:cs typeface="Malgun Gothic"/>
                        </a:rPr>
                        <a:t>Chronos 매일 보정</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26.98%</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6.47</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6,295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1,630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11,185</a:t>
                      </a:r>
                    </a:p>
                  </a:txBody>
                  <a:tcPr marL="91440" marR="91440" marT="45720" marB="45720" anchor="ctr">
                    <a:solidFill>
                      <a:srgbClr val="FFFFFF"/>
                    </a:solidFill>
                  </a:tcPr>
                </a:tc>
              </a:tr>
              <a:tr h="563563">
                <a:tc>
                  <a:txBody>
                    <a:bodyPr lIns="66675" tIns="47625" rIns="66675" bIns="38100">
                      <a:noAutofit/>
                    </a:bodyPr>
                    <a:lstStyle/>
                    <a:p>
                      <a:pPr algn="l"/>
                      <a:r>
                        <a:rPr sz="1725" b="0">
                          <a:solidFill>
                            <a:srgbClr val="000000"/>
                          </a:solidFill>
                          <a:latin typeface="Helvetica Neue"/>
                          <a:ea typeface="Malgun Gothic"/>
                          <a:cs typeface="Malgun Gothic"/>
                        </a:rPr>
                        <a:t>작은 히스토그램</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27.56%</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6.61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5,814</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1,585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10,569</a:t>
                      </a:r>
                    </a:p>
                  </a:txBody>
                  <a:tcPr marL="91440" marR="91440" marT="45720" marB="45720" anchor="ctr">
                    <a:solidFill>
                      <a:srgbClr val="FFFFFF"/>
                    </a:solidFill>
                  </a:tcPr>
                </a:tc>
              </a:tr>
              <a:tr h="563563">
                <a:tc>
                  <a:txBody>
                    <a:bodyPr lIns="66675" tIns="47625" rIns="66675" bIns="38100">
                      <a:noAutofit/>
                    </a:bodyPr>
                    <a:lstStyle/>
                    <a:p>
                      <a:pPr algn="l"/>
                      <a:r>
                        <a:rPr sz="1725" b="0">
                          <a:solidFill>
                            <a:srgbClr val="000000"/>
                          </a:solidFill>
                          <a:latin typeface="Helvetica Neue"/>
                          <a:ea typeface="Malgun Gothic"/>
                          <a:cs typeface="Malgun Gothic"/>
                        </a:rPr>
                        <a:t>Extra Trees</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27.41%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6.58</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5,736</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1,735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10,941</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6DE9743E-03E3-408A-8992-F825E1AD6F09}"/>
              </a:ext>
            </a:extLst>
          </p:cNvPr>
          <p:cNvSpPr>
            <a:spLocks xmlns:a="http://schemas.openxmlformats.org/drawingml/2006/main" noGrp="1"/>
          </p:cNvSpPr>
          <p:nvPr/>
        </p:nvSpPr>
        <p:spPr>
          <a:xfrm xmlns:a="http://schemas.openxmlformats.org/drawingml/2006/main">
            <a:off x="400050" y="5695950"/>
            <a:ext cx="11372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Chronos 원예측은 WAPE 2/36위, 손실 14/36위입니다. 예측 정확도와 생산 손실의 순위가 다릅니다.</a:t>
            </a:r>
          </a:p>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순위는 기존 35개와 Chronos 각 방식을 별도로 비교했습니다. 표의 마지막 두 후보는 비교 기준입니다.</a:t>
            </a:r>
          </a:p>
        </p:txBody>
      </p:sp>
    </p:spTree>
    <p:extLst>
      <p:ext uri="{BB962C8B-B14F-4D97-AF65-F5344CB8AC3E}">
        <p14:creationId xmlns:p14="http://schemas.microsoft.com/office/powerpoint/2010/main" val="3298548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초과·부족으로 나눈 손실</a:t>
            </a: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부족수량의 차이</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+175개</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3배 손실 차이 +525</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초과수량의 차이</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Chronos 매일 보정 − 최종</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+380개</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합산한 손실 차이</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+905 (+8.80%)</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초과 차이 + 3 × 부족 차이</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4" name="Chart"/>
          <p:cNvGraphicFramePr/>
          <p:nvPr/>
        </p:nvGraphicFramePr>
        <p:xfrm>
          <a:off xmlns:a="http://schemas.openxmlformats.org/drawingml/2006/main" x="385858" y="1571625"/>
          <a:ext xmlns:a="http://schemas.openxmlformats.org/drawingml/2006/main" cx="5534216" cy="4333875"/>
        </p:xfrm>
        <a:graphic xmlns:a="http://schemas.openxmlformats.org/drawingml/2006/main">
          <a:graphicData uri="http://schemas.openxmlformats.org/drawingml/2006/chart">
            <c:chart xmlns:r="http://schemas.openxmlformats.org/officeDocument/2006/relationships" xmlns:c="http://schemas.openxmlformats.org/drawingml/2006/chart" r:id="Rf7c47ad1ae7d406f"/>
          </a:graphicData>
        </a:graphic>
      </p:graphicFrame>
    </p:spTree>
    <p:extLst>
      <p:ext uri="{BB962C8B-B14F-4D97-AF65-F5344CB8AC3E}">
        <p14:creationId xmlns:p14="http://schemas.microsoft.com/office/powerpoint/2010/main" val="31459752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기간별 비교</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같은 기간 안에서 모델을 비교합니다. 기간마다 관측 수와 판매 규모가 다릅니다.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39" name=""/>
          <p:cNvGraphicFramePr/>
          <p:nvPr/>
        </p:nvGraphicFramePr>
        <p:xfrm>
          <a:off xmlns:a="http://schemas.openxmlformats.org/drawingml/2006/main" x="393668" y="2009775"/>
          <a:ext xmlns:a="http://schemas.openxmlformats.org/drawingml/2006/main" cx="11404568" cy="4038600"/>
        </p:xfrm>
        <a:graphic xmlns:a="http://schemas.openxmlformats.org/drawingml/2006/main">
          <a:graphicData uri="http://schemas.openxmlformats.org/drawingml/2006/table">
            <a:tbl>
              <a:tblPr firstRow="1" bandRow="0"/>
              <a:tblGrid>
                <a:gridCol w="2257425"/>
                <a:gridCol w="3543300"/>
                <a:gridCol w="1714500"/>
                <a:gridCol w="1943100"/>
                <a:gridCol w="1946243"/>
              </a:tblGrid>
              <a:tr h="403860">
                <a:tc>
                  <a:txBody>
                    <a:bodyPr lIns="66675" tIns="47625" rIns="66675" bIns="38100">
                      <a:noAutofit/>
                    </a:bodyPr>
                    <a:lstStyle/>
                    <a:p>
                      <a:pPr algn="l"/>
                      <a:r>
                        <a:rPr sz="1650" b="1">
                          <a:solidFill>
                            <a:srgbClr val="0077B8"/>
                          </a:solidFill>
                          <a:latin typeface="Helvetica Neue"/>
                          <a:ea typeface="Malgun Gothic"/>
                          <a:cs typeface="Malgun Gothic"/>
                        </a:rPr>
                        <a:t>평가기간</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모델</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관측 수</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WAPE</a:t>
                      </a:r>
                    </a:p>
                  </a:txBody>
                  <a:tcPr marL="91440" marR="91440" marT="45720" marB="45720" anchor="ctr">
                    <a:solidFill>
                      <a:srgbClr val="FFFFFF"/>
                    </a:solidFill>
                  </a:tcPr>
                </a:tc>
                <a:tc>
                  <a:txBody>
                    <a:bodyPr lIns="66675" tIns="47625" rIns="66675" bIns="38100">
                      <a:noAutofit/>
                    </a:bodyPr>
                    <a:lstStyle/>
                    <a:p>
                      <a:pPr algn="l"/>
                      <a:r>
                        <a:rPr sz="1650" b="1">
                          <a:solidFill>
                            <a:srgbClr val="0077B8"/>
                          </a:solidFill>
                          <a:latin typeface="Helvetica Neue"/>
                          <a:ea typeface="Malgun Gothic"/>
                          <a:cs typeface="Malgun Gothic"/>
                        </a:rPr>
                        <a:t>3:1 손실</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7–8월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370</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23.44%</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5,189</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7–8월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370</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25.25%</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5,857</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7–8월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매일 보정</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370</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25.34%</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5,801</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9–10월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366</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28.43%</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3,965</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9–10월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366</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28.00%</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4,256</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9–10월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매일 보정</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366</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28.69%</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4,295</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11–12월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238</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29.96%</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1,126</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11–12월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238</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30.18%</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1,135</a:t>
                      </a:r>
                    </a:p>
                  </a:txBody>
                  <a:tcPr marL="91440" marR="91440" marT="45720" marB="45720" anchor="ctr">
                    <a:solidFill>
                      <a:srgbClr val="FFFFFF"/>
                    </a:solidFill>
                  </a:tcPr>
                </a:tc>
              </a:tr>
              <a:tr h="403860">
                <a:tc>
                  <a:txBody>
                    <a:bodyPr lIns="66675" tIns="47625" rIns="66675" bIns="38100">
                      <a:noAutofit/>
                    </a:bodyPr>
                    <a:lstStyle/>
                    <a:p>
                      <a:pPr algn="l"/>
                      <a:r>
                        <a:rPr sz="1650" b="0">
                          <a:solidFill>
                            <a:srgbClr val="000000"/>
                          </a:solidFill>
                          <a:latin typeface="Helvetica Neue"/>
                          <a:ea typeface="Malgun Gothic"/>
                          <a:cs typeface="Malgun Gothic"/>
                        </a:rPr>
                        <a:t> 11–12월</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Chronos 매일 보정</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238</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30.26%</a:t>
                      </a:r>
                    </a:p>
                  </a:txBody>
                  <a:tcPr marL="91440" marR="91440" marT="45720" marB="45720" anchor="ctr">
                    <a:solidFill>
                      <a:srgbClr val="FFFFFF"/>
                    </a:solidFill>
                  </a:tcPr>
                </a:tc>
                <a:tc>
                  <a:txBody>
                    <a:bodyPr lIns="66675" tIns="47625" rIns="66675" bIns="38100">
                      <a:noAutofit/>
                    </a:bodyPr>
                    <a:lstStyle/>
                    <a:p>
                      <a:pPr algn="l"/>
                      <a:r>
                        <a:rPr sz="1650" b="0">
                          <a:solidFill>
                            <a:srgbClr val="000000"/>
                          </a:solidFill>
                          <a:latin typeface="Helvetica Neue"/>
                          <a:ea typeface="Malgun Gothic"/>
                          <a:cs typeface="Malgun Gothic"/>
                        </a:rPr>
                        <a:t>1,089</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9854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상품별 3:1 손실</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마지막 열은 Chronos 매일 보정 − 최종 모델입니다. 음수면 Chronos의 손실이 낮습니다.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200275"/>
          <a:ext xmlns:a="http://schemas.openxmlformats.org/drawingml/2006/main" cx="11404568" cy="3467100"/>
        </p:xfrm>
        <a:graphic xmlns:a="http://schemas.openxmlformats.org/drawingml/2006/main">
          <a:graphicData uri="http://schemas.openxmlformats.org/drawingml/2006/table">
            <a:tbl>
              <a:tblPr firstRow="1" bandRow="0"/>
              <a:tblGrid>
                <a:gridCol w="1162050"/>
                <a:gridCol w="1524000"/>
                <a:gridCol w="2038350"/>
                <a:gridCol w="2476500"/>
                <a:gridCol w="2190750"/>
                <a:gridCol w="2012918"/>
              </a:tblGrid>
              <a:tr h="495300">
                <a:tc>
                  <a:txBody>
                    <a:bodyPr lIns="66675" tIns="47625" rIns="66675" bIns="38100">
                      <a:noAutofit/>
                    </a:bodyPr>
                    <a:lstStyle/>
                    <a:p>
                      <a:pPr algn="l"/>
                      <a:r>
                        <a:rPr sz="1725" b="1">
                          <a:solidFill>
                            <a:srgbClr val="0077B8"/>
                          </a:solidFill>
                          <a:latin typeface="Helvetica Neue"/>
                          <a:ea typeface="Malgun Gothic"/>
                          <a:cs typeface="Malgun Gothic"/>
                        </a:rPr>
                        <a:t>상품</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관측 수</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최종 모델</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Chronos 보정</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보정 − 최종</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11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1,830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2,016</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2,021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+191</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12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903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1,025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1,027</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+124</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13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1,915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2,020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2,062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+147</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21</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2,000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2,268</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2,273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+273</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35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2,252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2,489</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2,442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+190</a:t>
                      </a:r>
                    </a:p>
                  </a:txBody>
                  <a:tcPr marL="91440" marR="91440" marT="45720" marB="45720" anchor="ctr">
                    <a:solidFill>
                      <a:srgbClr val="FFFFFF"/>
                    </a:solidFill>
                  </a:tcPr>
                </a:tc>
              </a:tr>
              <a:tr h="495300">
                <a:tc>
                  <a:txBody>
                    <a:bodyPr lIns="66675" tIns="47625" rIns="66675" bIns="38100">
                      <a:noAutofit/>
                    </a:bodyPr>
                    <a:lstStyle/>
                    <a:p>
                      <a:pPr algn="l"/>
                      <a:r>
                        <a:rPr sz="1725" b="0">
                          <a:solidFill>
                            <a:srgbClr val="000000"/>
                          </a:solidFill>
                          <a:latin typeface="Helvetica Neue"/>
                          <a:ea typeface="Malgun Gothic"/>
                          <a:cs typeface="Malgun Gothic"/>
                        </a:rPr>
                        <a:t>82</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163</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1,380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1,430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1,360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AFAD09C-B2D0-416E-BF81-4CFE3ECCB203}"/>
              </a:ext>
            </a:extLst>
          </p:cNvPr>
          <p:cNvSpPr>
            <a:spLocks xmlns:a="http://schemas.openxmlformats.org/drawingml/2006/main" noGrp="1"/>
          </p:cNvSpPr>
          <p:nvPr/>
        </p:nvSpPr>
        <p:spPr>
          <a:xfrm xmlns:a="http://schemas.openxmlformats.org/drawingml/2006/main">
            <a:off x="400050" y="5838825"/>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575" b="0">
                <a:solidFill>
                  <a:srgbClr val="000000"/>
                </a:solidFill>
                <a:latin typeface="Helvetica Neue"/>
                <a:ea typeface="Malgun Gothic"/>
                <a:cs typeface="Malgun Gothic"/>
              </a:defRPr>
            </a:pPr>
            <a:r>
              <a:rPr sz="1575" b="0">
                <a:solidFill>
                  <a:srgbClr val="000000"/>
                </a:solidFill>
                <a:latin typeface="Helvetica Neue"/>
                <a:ea typeface="Malgun Gothic"/>
                <a:cs typeface="Malgun Gothic"/>
              </a:rPr>
              <a:t>상품 코드는 원자료의 11, 12, 13, 21, 35, 82입니다. 단일 매장의 기존 상품만 평가했습니다.</a:t>
            </a:r>
          </a:p>
        </p:txBody>
      </p:sp>
    </p:spTree>
    <p:extLst>
      <p:ext uri="{BB962C8B-B14F-4D97-AF65-F5344CB8AC3E}">
        <p14:creationId xmlns:p14="http://schemas.microsoft.com/office/powerpoint/2010/main" val="3298548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DB7BEEEC-A170-5376-2B6E-CB54687B0CB1}" type="slidenum">
              <a:t>10</a:t>
            </a:fld>
            <a:endParaRPr sz="1100"/>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9"/>
            <a:ext cx="7835900" cy="6973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날짜별 권고량과 실제 판매</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5"/>
            <a:ext cx="2133315" cy="903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4350" b="0">
                <a:solidFill>
                  <a:srgbClr val="000000"/>
                </a:solidFill>
                <a:latin typeface="Helvetica Neue"/>
                <a:ea typeface="Malgun Gothic"/>
                <a:cs typeface="Malgun Gothic"/>
              </a:defRPr>
            </a:pPr>
            <a:r>
              <a:rPr sz="4350" b="0">
                <a:solidFill>
                  <a:srgbClr val="000000"/>
                </a:solidFill>
                <a:latin typeface="Helvetica Neue"/>
                <a:ea typeface="Malgun Gothic"/>
                <a:cs typeface="Malgun Gothic"/>
              </a:rPr>
              <a:t>227</a:t>
            </a: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Chronos 원예측</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예시 구간 손실</a:t>
            </a: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5"/>
            <a:ext cx="2133315" cy="903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4350" b="0">
                <a:solidFill>
                  <a:srgbClr val="000000"/>
                </a:solidFill>
                <a:latin typeface="Helvetica Neue"/>
                <a:ea typeface="Malgun Gothic"/>
                <a:cs typeface="Malgun Gothic"/>
              </a:defRPr>
            </a:pPr>
            <a:r>
              <a:rPr sz="4350" b="0">
                <a:solidFill>
                  <a:srgbClr val="000000"/>
                </a:solidFill>
                <a:latin typeface="Helvetica Neue"/>
                <a:ea typeface="Malgun Gothic"/>
                <a:cs typeface="Malgun Gothic"/>
              </a:rPr>
              <a:t>231</a:t>
            </a: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Chronos 매일 보정</a:t>
            </a:r>
          </a:p>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예시 구간 손실</a:t>
            </a: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상품 11, 2023년 7월 1~21일</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결과를 보기 전에 고른 첫 3주입니다.</a:t>
            </a:r>
          </a:p>
          <a:p xmlns:a="http://schemas.openxmlformats.org/drawingml/2006/main">
            <a:pPr marL="0" indent="0">
              <a:lnSpc>
                <a:spcPct val="110000"/>
              </a:lnSpc>
              <a:spcBef>
                <a:spcPts val="0"/>
              </a:spcBef>
              <a:spcAft>
                <a:spcPts val="0"/>
              </a:spcAft>
              <a:buNone/>
              <a:defRPr sz="1800" b="0">
                <a:solidFill>
                  <a:srgbClr val="000000"/>
                </a:solidFill>
                <a:latin typeface="Helvetica Neue"/>
                <a:ea typeface="Malgun Gothic"/>
                <a:cs typeface="Malgun Gothic"/>
              </a:defRPr>
            </a:pPr>
            <a:r>
              <a:rPr sz="1800" b="0">
                <a:solidFill>
                  <a:srgbClr val="000000"/>
                </a:solidFill>
                <a:latin typeface="Helvetica Neue"/>
                <a:ea typeface="Malgun Gothic"/>
                <a:cs typeface="Malgun Gothic"/>
              </a:rPr>
              <a:t>이 구간의 최종 모델 손실은 204입니다.</a:t>
            </a:r>
          </a:p>
        </p:txBody>
      </p:sp>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5" name="Chart"/>
          <p:cNvGraphicFramePr/>
          <p:nvPr/>
        </p:nvGraphicFramePr>
        <p:xfrm>
          <a:off xmlns:a="http://schemas.openxmlformats.org/drawingml/2006/main" x="385858" y="1428750"/>
          <a:ext xmlns:a="http://schemas.openxmlformats.org/drawingml/2006/main" cx="5534216" cy="4667250"/>
        </p:xfrm>
        <a:graphic xmlns:a="http://schemas.openxmlformats.org/drawingml/2006/main">
          <a:graphicData uri="http://schemas.openxmlformats.org/drawingml/2006/chart">
            <c:chart xmlns:r="http://schemas.openxmlformats.org/officeDocument/2006/relationships" xmlns:c="http://schemas.openxmlformats.org/drawingml/2006/chart" r:id="R4abe84be5a5f4e45"/>
          </a:graphicData>
        </a:graphic>
      </p:graphicFrame>
    </p:spTree>
    <p:extLst>
      <p:ext uri="{BB962C8B-B14F-4D97-AF65-F5344CB8AC3E}">
        <p14:creationId xmlns:p14="http://schemas.microsoft.com/office/powerpoint/2010/main" val="377680918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최종 모델 대비 손실 차이의 불확실성</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07" y="1066800"/>
            <a:ext cx="11404568" cy="8953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725" b="0">
                <a:solidFill>
                  <a:srgbClr val="000000"/>
                </a:solidFill>
                <a:latin typeface="Helvetica Neue"/>
                <a:ea typeface="Malgun Gothic"/>
                <a:cs typeface="Malgun Gothic"/>
              </a:defRPr>
            </a:pPr>
            <a:r>
              <a:rPr sz="1725" b="0">
                <a:solidFill>
                  <a:srgbClr val="000000"/>
                </a:solidFill>
                <a:latin typeface="Helvetica Neue"/>
                <a:ea typeface="Malgun Gothic"/>
                <a:cs typeface="Malgun Gothic"/>
              </a:rPr>
              <a:t>차이 = Chronos − 최종 모델. 음수면 Chronos가 낮습니다. 0을 포함하는 구간은 우열을 단정하기 어렵습니다.</a:t>
            </a:r>
          </a:p>
        </p:txBody>
      </p:sp>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0" name=""/>
          <p:cNvGraphicFramePr/>
          <p:nvPr/>
        </p:nvGraphicFramePr>
        <p:xfrm>
          <a:off xmlns:a="http://schemas.openxmlformats.org/drawingml/2006/main" x="393668" y="2400300"/>
          <a:ext xmlns:a="http://schemas.openxmlformats.org/drawingml/2006/main" cx="11404568" cy="2143125"/>
        </p:xfrm>
        <a:graphic xmlns:a="http://schemas.openxmlformats.org/drawingml/2006/main">
          <a:graphicData uri="http://schemas.openxmlformats.org/drawingml/2006/table">
            <a:tbl>
              <a:tblPr firstRow="1" bandRow="0"/>
              <a:tblGrid>
                <a:gridCol w="3000375"/>
                <a:gridCol w="1619250"/>
                <a:gridCol w="3371850"/>
                <a:gridCol w="3413093"/>
              </a:tblGrid>
              <a:tr h="714375">
                <a:tc>
                  <a:txBody>
                    <a:bodyPr lIns="66675" tIns="47625" rIns="66675" bIns="38100">
                      <a:noAutofit/>
                    </a:bodyPr>
                    <a:lstStyle/>
                    <a:p>
                      <a:pPr algn="l"/>
                      <a:r>
                        <a:rPr sz="1725" b="1">
                          <a:solidFill>
                            <a:srgbClr val="0077B8"/>
                          </a:solidFill>
                          <a:latin typeface="Helvetica Neue"/>
                          <a:ea typeface="Malgun Gothic"/>
                          <a:cs typeface="Malgun Gothic"/>
                        </a:rPr>
                        <a:t>Chronos 방식</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손실 차이</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7일 블록 95% 구간</a:t>
                      </a:r>
                    </a:p>
                  </a:txBody>
                  <a:tcPr marL="91440" marR="91440" marT="45720" marB="45720" anchor="ctr">
                    <a:solidFill>
                      <a:srgbClr val="FFFFFF"/>
                    </a:solidFill>
                  </a:tcPr>
                </a:tc>
                <a:tc>
                  <a:txBody>
                    <a:bodyPr lIns="66675" tIns="47625" rIns="66675" bIns="38100">
                      <a:noAutofit/>
                    </a:bodyPr>
                    <a:lstStyle/>
                    <a:p>
                      <a:pPr algn="l"/>
                      <a:r>
                        <a:rPr sz="1725" b="1">
                          <a:solidFill>
                            <a:srgbClr val="0077B8"/>
                          </a:solidFill>
                          <a:latin typeface="Helvetica Neue"/>
                          <a:ea typeface="Malgun Gothic"/>
                          <a:cs typeface="Malgun Gothic"/>
                        </a:rPr>
                        <a:t>14일 블록 95% 구간</a:t>
                      </a:r>
                    </a:p>
                  </a:txBody>
                  <a:tcPr marL="91440" marR="91440" marT="45720" marB="45720" anchor="ctr">
                    <a:solidFill>
                      <a:srgbClr val="FFFFFF"/>
                    </a:solidFill>
                  </a:tcPr>
                </a:tc>
              </a:tr>
              <a:tr h="714375">
                <a:tc>
                  <a:txBody>
                    <a:bodyPr lIns="66675" tIns="47625" rIns="66675" bIns="38100">
                      <a:noAutofit/>
                    </a:bodyPr>
                    <a:lstStyle/>
                    <a:p>
                      <a:pPr algn="l"/>
                      <a:r>
                        <a:rPr sz="1725" b="0">
                          <a:solidFill>
                            <a:srgbClr val="000000"/>
                          </a:solidFill>
                          <a:latin typeface="Helvetica Neue"/>
                          <a:ea typeface="Malgun Gothic"/>
                          <a:cs typeface="Malgun Gothic"/>
                        </a:rPr>
                        <a:t>Chronos 원예측</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+968</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[+205, +1,830]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[+254, +1,681]</a:t>
                      </a:r>
                    </a:p>
                  </a:txBody>
                  <a:tcPr marL="91440" marR="91440" marT="45720" marB="45720" anchor="ctr">
                    <a:solidFill>
                      <a:srgbClr val="FFFFFF"/>
                    </a:solidFill>
                  </a:tcPr>
                </a:tc>
              </a:tr>
              <a:tr h="714375">
                <a:tc>
                  <a:txBody>
                    <a:bodyPr lIns="66675" tIns="47625" rIns="66675" bIns="38100">
                      <a:noAutofit/>
                    </a:bodyPr>
                    <a:lstStyle/>
                    <a:p>
                      <a:pPr algn="l"/>
                      <a:r>
                        <a:rPr sz="1725" b="0">
                          <a:solidFill>
                            <a:srgbClr val="000000"/>
                          </a:solidFill>
                          <a:latin typeface="Helvetica Neue"/>
                          <a:ea typeface="Malgun Gothic"/>
                          <a:cs typeface="Malgun Gothic"/>
                        </a:rPr>
                        <a:t>Chronos 매일 보정</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+905</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[+84, +1,800]</a:t>
                      </a:r>
                    </a:p>
                  </a:txBody>
                  <a:tcPr marL="91440" marR="91440" marT="45720" marB="45720" anchor="ctr">
                    <a:solidFill>
                      <a:srgbClr val="FFFFFF"/>
                    </a:solidFill>
                  </a:tcPr>
                </a:tc>
                <a:tc>
                  <a:txBody>
                    <a:bodyPr lIns="66675" tIns="47625" rIns="66675" bIns="38100">
                      <a:noAutofit/>
                    </a:bodyPr>
                    <a:lstStyle/>
                    <a:p>
                      <a:pPr algn="l"/>
                      <a:r>
                        <a:rPr sz="1725" b="0">
                          <a:solidFill>
                            <a:srgbClr val="000000"/>
                          </a:solidFill>
                          <a:latin typeface="Helvetica Neue"/>
                          <a:ea typeface="Malgun Gothic"/>
                          <a:cs typeface="Malgun Gothic"/>
                        </a:rPr>
                        <a:t>[+93, +1,681]</a:t>
                      </a:r>
                    </a:p>
                  </a:txBody>
                  <a:tcPr marL="91440" marR="91440" marT="45720" marB="45720" anchor="ctr">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0527FD1-57B7-49C9-BBDF-91B0BBAD120B}"/>
              </a:ext>
            </a:extLst>
          </p:cNvPr>
          <p:cNvSpPr>
            <a:spLocks xmlns:a="http://schemas.openxmlformats.org/drawingml/2006/main" noGrp="1"/>
          </p:cNvSpPr>
          <p:nvPr/>
        </p:nvSpPr>
        <p:spPr>
          <a:xfrm xmlns:a="http://schemas.openxmlformats.org/drawingml/2006/main">
            <a:off x="400050" y="5257800"/>
            <a:ext cx="1137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650" b="0">
                <a:solidFill>
                  <a:srgbClr val="000000"/>
                </a:solidFill>
                <a:latin typeface="Helvetica Neue"/>
                <a:ea typeface="Malgun Gothic"/>
                <a:cs typeface="Malgun Gothic"/>
              </a:defRPr>
            </a:pPr>
            <a:r>
              <a:rPr sz="1650" b="0">
                <a:solidFill>
                  <a:srgbClr val="000000"/>
                </a:solidFill>
                <a:latin typeface="Helvetica Neue"/>
                <a:ea typeface="Malgun Gothic"/>
                <a:cs typeface="Malgun Gothic"/>
              </a:rPr>
              <a:t>각 평가기간에서 날짜 블록을 1,000회 쌍으로 재표집했습니다. 같은 날짜의 상품은 함께 유지했습니다.</a:t>
            </a:r>
          </a:p>
          <a:p xmlns:a="http://schemas.openxmlformats.org/drawingml/2006/main">
            <a:pPr marL="0" indent="0">
              <a:lnSpc>
                <a:spcPct val="110000"/>
              </a:lnSpc>
              <a:spcBef>
                <a:spcPts val="0"/>
              </a:spcBef>
              <a:spcAft>
                <a:spcPts val="0"/>
              </a:spcAft>
              <a:buNone/>
              <a:defRPr sz="1650" b="0">
                <a:solidFill>
                  <a:srgbClr val="000000"/>
                </a:solidFill>
                <a:latin typeface="Helvetica Neue"/>
                <a:ea typeface="Malgun Gothic"/>
                <a:cs typeface="Malgun Gothic"/>
              </a:defRPr>
            </a:pPr>
            <a:r>
              <a:rPr sz="1650" b="0">
                <a:solidFill>
                  <a:srgbClr val="000000"/>
                </a:solidFill>
                <a:latin typeface="Helvetica Neue"/>
                <a:ea typeface="Malgun Gothic"/>
                <a:cs typeface="Malgun Gothic"/>
              </a:rPr>
              <a:t>동일 자료를 반복 탐색한 비교입니다. 다중비교를 보정한 확증적 검정이나 미래 성능의 보장이 아닙니다.</a:t>
            </a:r>
          </a:p>
        </p:txBody>
      </p:sp>
    </p:spTree>
    <p:extLst>
      <p:ext uri="{BB962C8B-B14F-4D97-AF65-F5344CB8AC3E}">
        <p14:creationId xmlns:p14="http://schemas.microsoft.com/office/powerpoint/2010/main" val="32985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Chronos 보정 전후</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동일 원예측에 최근 56일 오차를 반영</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손실 -63, WAPE +0.30%p</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DB16885-0D3F-A391-B669-3211DB3B26E8}" type="slidenum">
              <a:t>12</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가중치 학습과 구분</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Chronos 신경망 가중치는 고정</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평가일 전 판매를 문맥·보정에 순차 반영</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최근 오차 보정의 효과와 차이</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최종 모델과 보정 방식 차이</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최종 내부 앙상블은 FFT 유사도 가중</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Chronos는 일반 잔차 분위수 보정</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방법 선택의 범위</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512일 입력·다음 날 예측·56일 보정 고정</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이번 비교에서 미세조정이나 설정 탐색 없음</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이번 자료의 전체 결과</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최종 모델의 3:1 손실이 가장 낮음</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10,280 · 평가한 세 방식의 비교</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2DD23107-4986-8758-3A93-3D74F35908CC}" type="slidenum">
              <a:t>13</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기간·상품에 따른 차이</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11–12월·상품 82는 Chronos 보정이 낮음</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전체 손실 차이의 95% 구간은 0 제외</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결론과 다음 검증</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후향 평가의 한계</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2024년 공개 모델로 2023년 자료 평가</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사전학습 자료와의 중복 여부 미확인</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다음 검증 조건</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새 기간·매장과 평가규칙을 먼저 고정</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품절·실제 폐기·원가를 함께 수집</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0000"/>
              </a:lnSpc>
              <a:spcBef>
                <a:spcPts val="0"/>
              </a:spcBef>
              <a:spcAft>
                <a:spcPts val="0"/>
              </a:spcAft>
              <a:buNone/>
              <a:defRPr sz="2700" b="0">
                <a:solidFill>
                  <a:srgbClr val="000000"/>
                </a:solidFill>
                <a:latin typeface="Helvetica Neue"/>
                <a:ea typeface="Malgun Gothic"/>
                <a:cs typeface="Malgun Gothic"/>
              </a:defRPr>
            </a:pPr>
            <a:r>
              <a:rPr sz="2700" b="0">
                <a:solidFill>
                  <a:srgbClr val="000000"/>
                </a:solidFill>
                <a:latin typeface="Helvetica Neue"/>
                <a:ea typeface="Malgun Gothic"/>
                <a:cs typeface="Malgun Gothic"/>
              </a:rPr>
              <a:t>출처와 재현 자료</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hlinkClick xmlns:r="http://schemas.openxmlformats.org/officeDocument/2006/relationships" r:id="R75382ba9d7b24e56"/>
              </a:rPr>
              <a:t>huggingface.co/amazon/chronos-bolt-small</a:t>
            </a:r>
          </a:p>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48M 모델과 공식 사용 설명</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모델 카드</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hlinkClick xmlns:r="http://schemas.openxmlformats.org/officeDocument/2006/relationships" r:id="R17c4922495aa428a"/>
              </a:rPr>
              <a:t>github.com/amazon-science/chronos-forecasting</a:t>
            </a:r>
          </a:p>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고정 모델 revision과 공식 분위수 보간</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공식 구현</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hlinkClick xmlns:r="http://schemas.openxmlformats.org/officeDocument/2006/relationships" r:id="Rcac8fbd0db944d99"/>
              </a:rPr>
              <a:t>github.com/lleisner/bakery_sales_forecasting</a:t>
            </a:r>
          </a:p>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고정 커밋 d4c8fb84…</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원판매 자료</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hlinkClick xmlns:r="http://schemas.openxmlformats.org/officeDocument/2006/relationships" r:id="Ra0321ad0b7aa411a"/>
              </a:rPr>
              <a:t>naeil-bbang.vercel.app/research/chronos/</a:t>
            </a:r>
          </a:p>
          <a:p xmlns:a="http://schemas.openxmlformats.org/drawingml/2006/main">
            <a:pPr marL="0" indent="0">
              <a:lnSpc>
                <a:spcPct val="110000"/>
              </a:lnSpc>
              <a:spcBef>
                <a:spcPts val="0"/>
              </a:spcBef>
              <a:spcAft>
                <a:spcPts val="0"/>
              </a:spcAft>
              <a:buNone/>
              <a:defRPr sz="1500" b="0">
                <a:solidFill>
                  <a:srgbClr val="000000"/>
                </a:solidFill>
                <a:latin typeface="Helvetica Neue"/>
                <a:ea typeface="Malgun Gothic"/>
                <a:cs typeface="Malgun Gothic"/>
              </a:defRPr>
            </a:pPr>
            <a:r>
              <a:rPr sz="1500" b="0">
                <a:solidFill>
                  <a:srgbClr val="000000"/>
                </a:solidFill>
                <a:latin typeface="Helvetica Neue"/>
                <a:ea typeface="Malgun Gothic"/>
                <a:cs typeface="Malgun Gothic"/>
              </a:rPr>
              <a:t>analysis.json · predictions.csv · methodology.md</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00" b="0">
                <a:solidFill>
                  <a:srgbClr val="0077B8"/>
                </a:solidFill>
                <a:latin typeface="Helvetica Neue"/>
                <a:ea typeface="Malgun Gothic"/>
                <a:cs typeface="Malgun Gothic"/>
              </a:defRPr>
            </a:pPr>
            <a:r>
              <a:rPr sz="1800" b="0">
                <a:solidFill>
                  <a:srgbClr val="0077B8"/>
                </a:solidFill>
                <a:latin typeface="Helvetica Neue"/>
                <a:ea typeface="Malgun Gothic"/>
                <a:cs typeface="Malgun Gothic"/>
              </a:rPr>
              <a:t>비교 결과</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확인 기준</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2026년 9월 15일</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사전학습 모델의 공개 설명과</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이번 실험의 계산 결과를</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구분하여 사용했습니다.</a:t>
            </a:r>
          </a:p>
          <a:p xmlns:a="http://schemas.openxmlformats.org/drawingml/2006/main">
            <a:pPr marL="0" indent="0">
              <a:spcBef>
                <a:spcPts val="0"/>
              </a:spcBef>
              <a:spcAft>
                <a:spcPts val="0"/>
              </a:spcAft>
              <a:buNone/>
            </a:pPr>
            <a:r>
              <a:t/>
            </a:r>
          </a:p>
          <a:p xmlns:a="http://schemas.openxmlformats.org/drawingml/2006/main">
            <a:pPr marL="0" indent="0">
              <a:lnSpc>
                <a:spcPct val="110000"/>
              </a:lnSpc>
              <a:spcBef>
                <a:spcPts val="0"/>
              </a:spcBef>
              <a:spcAft>
                <a:spcPts val="0"/>
              </a:spcAft>
              <a:buNone/>
              <a:defRPr sz="1875" b="0">
                <a:solidFill>
                  <a:srgbClr val="000000"/>
                </a:solidFill>
                <a:latin typeface="Helvetica Neue"/>
                <a:ea typeface="Malgun Gothic"/>
                <a:cs typeface="Malgun Gothic"/>
              </a:defRPr>
            </a:pPr>
            <a:r>
              <a:rPr sz="1875" b="0">
                <a:solidFill>
                  <a:srgbClr val="000000"/>
                </a:solidFill>
                <a:latin typeface="Helvetica Neue"/>
                <a:ea typeface="Malgun Gothic"/>
                <a:cs typeface="Malgun Gothic"/>
              </a:rPr>
              <a:t>원자료 단위: 순판매 개수</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2026-09-15T05:52:59.0360000Z</dcterms:created>
  <dcterms:modified xsi:type="dcterms:W3CDTF">2026-09-15T05:52:59.0360000Z</dcterms:modified>
</coreProperties>
</file>